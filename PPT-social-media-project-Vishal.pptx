
<file path=[Content_Types].xml><?xml version="1.0" encoding="utf-8"?>
<Types xmlns="http://schemas.openxmlformats.org/package/2006/content-types">
  <Default Extension="avif" ContentType="image/png"/>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8"/>
  </p:notesMasterIdLst>
  <p:sldIdLst>
    <p:sldId id="256" r:id="rId2"/>
    <p:sldId id="259" r:id="rId3"/>
    <p:sldId id="261" r:id="rId4"/>
    <p:sldId id="262" r:id="rId5"/>
    <p:sldId id="263" r:id="rId6"/>
    <p:sldId id="264" r:id="rId7"/>
    <p:sldId id="267" r:id="rId8"/>
    <p:sldId id="277" r:id="rId9"/>
    <p:sldId id="268" r:id="rId10"/>
    <p:sldId id="269" r:id="rId11"/>
    <p:sldId id="271" r:id="rId12"/>
    <p:sldId id="274" r:id="rId13"/>
    <p:sldId id="273" r:id="rId14"/>
    <p:sldId id="275" r:id="rId15"/>
    <p:sldId id="276" r:id="rId16"/>
    <p:sldId id="26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5" d="100"/>
          <a:sy n="85" d="100"/>
        </p:scale>
        <p:origin x="54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20BET1016_Vishal Raj" userId="25e98819cd6d919e" providerId="LiveId" clId="{BAF228EF-B0D5-4023-82B9-F675247B3434}"/>
    <pc:docChg chg="undo custSel addSld modSld">
      <pc:chgData name="20BET1016_Vishal Raj" userId="25e98819cd6d919e" providerId="LiveId" clId="{BAF228EF-B0D5-4023-82B9-F675247B3434}" dt="2026-08-24T10:51:16.883" v="113" actId="2711"/>
      <pc:docMkLst>
        <pc:docMk/>
      </pc:docMkLst>
      <pc:sldChg chg="delSp modSp mod">
        <pc:chgData name="20BET1016_Vishal Raj" userId="25e98819cd6d919e" providerId="LiveId" clId="{BAF228EF-B0D5-4023-82B9-F675247B3434}" dt="2026-08-24T10:46:48.145" v="101" actId="20577"/>
        <pc:sldMkLst>
          <pc:docMk/>
          <pc:sldMk cId="2061153128" sldId="267"/>
        </pc:sldMkLst>
        <pc:spChg chg="mod">
          <ac:chgData name="20BET1016_Vishal Raj" userId="25e98819cd6d919e" providerId="LiveId" clId="{BAF228EF-B0D5-4023-82B9-F675247B3434}" dt="2026-08-24T10:38:37.651" v="55" actId="313"/>
          <ac:spMkLst>
            <pc:docMk/>
            <pc:sldMk cId="2061153128" sldId="267"/>
            <ac:spMk id="2" creationId="{6EC8FA00-6C82-2353-5E34-C49B05580821}"/>
          </ac:spMkLst>
        </pc:spChg>
        <pc:spChg chg="mod">
          <ac:chgData name="20BET1016_Vishal Raj" userId="25e98819cd6d919e" providerId="LiveId" clId="{BAF228EF-B0D5-4023-82B9-F675247B3434}" dt="2026-08-24T10:39:23.058" v="63" actId="33524"/>
          <ac:spMkLst>
            <pc:docMk/>
            <pc:sldMk cId="2061153128" sldId="267"/>
            <ac:spMk id="7" creationId="{7ACD422E-7BD4-D64B-731D-D0442DD413D5}"/>
          </ac:spMkLst>
        </pc:spChg>
        <pc:spChg chg="del mod">
          <ac:chgData name="20BET1016_Vishal Raj" userId="25e98819cd6d919e" providerId="LiveId" clId="{BAF228EF-B0D5-4023-82B9-F675247B3434}" dt="2026-08-24T10:37:22.075" v="3"/>
          <ac:spMkLst>
            <pc:docMk/>
            <pc:sldMk cId="2061153128" sldId="267"/>
            <ac:spMk id="8" creationId="{9D6A191A-7775-CD8F-668B-3411323A3526}"/>
          </ac:spMkLst>
        </pc:spChg>
        <pc:graphicFrameChg chg="mod">
          <ac:chgData name="20BET1016_Vishal Raj" userId="25e98819cd6d919e" providerId="LiveId" clId="{BAF228EF-B0D5-4023-82B9-F675247B3434}" dt="2026-08-24T10:46:48.145" v="101" actId="20577"/>
          <ac:graphicFrameMkLst>
            <pc:docMk/>
            <pc:sldMk cId="2061153128" sldId="267"/>
            <ac:graphicFrameMk id="4" creationId="{7D41F7A0-D94F-CEDC-CB09-28AAF25CE3E2}"/>
          </ac:graphicFrameMkLst>
        </pc:graphicFrameChg>
        <pc:graphicFrameChg chg="del">
          <ac:chgData name="20BET1016_Vishal Raj" userId="25e98819cd6d919e" providerId="LiveId" clId="{BAF228EF-B0D5-4023-82B9-F675247B3434}" dt="2026-08-24T10:37:14.904" v="0" actId="21"/>
          <ac:graphicFrameMkLst>
            <pc:docMk/>
            <pc:sldMk cId="2061153128" sldId="267"/>
            <ac:graphicFrameMk id="5" creationId="{B29709E1-35E7-4483-B9B2-993FC7EF83D1}"/>
          </ac:graphicFrameMkLst>
        </pc:graphicFrameChg>
      </pc:sldChg>
      <pc:sldChg chg="addSp modSp new mod">
        <pc:chgData name="20BET1016_Vishal Raj" userId="25e98819cd6d919e" providerId="LiveId" clId="{BAF228EF-B0D5-4023-82B9-F675247B3434}" dt="2026-08-24T10:51:16.883" v="113" actId="2711"/>
        <pc:sldMkLst>
          <pc:docMk/>
          <pc:sldMk cId="1062789826" sldId="277"/>
        </pc:sldMkLst>
        <pc:spChg chg="add mod">
          <ac:chgData name="20BET1016_Vishal Raj" userId="25e98819cd6d919e" providerId="LiveId" clId="{BAF228EF-B0D5-4023-82B9-F675247B3434}" dt="2026-08-24T10:41:02.560" v="75" actId="113"/>
          <ac:spMkLst>
            <pc:docMk/>
            <pc:sldMk cId="1062789826" sldId="277"/>
            <ac:spMk id="5" creationId="{978F38B9-0202-83CB-6299-D673082BB34A}"/>
          </ac:spMkLst>
        </pc:spChg>
        <pc:spChg chg="add mod">
          <ac:chgData name="20BET1016_Vishal Raj" userId="25e98819cd6d919e" providerId="LiveId" clId="{BAF228EF-B0D5-4023-82B9-F675247B3434}" dt="2026-08-24T10:51:16.883" v="113" actId="2711"/>
          <ac:spMkLst>
            <pc:docMk/>
            <pc:sldMk cId="1062789826" sldId="277"/>
            <ac:spMk id="7" creationId="{99F886AF-AD86-C8AF-EE55-A5FC20CD307A}"/>
          </ac:spMkLst>
        </pc:spChg>
        <pc:graphicFrameChg chg="add mod">
          <ac:chgData name="20BET1016_Vishal Raj" userId="25e98819cd6d919e" providerId="LiveId" clId="{BAF228EF-B0D5-4023-82B9-F675247B3434}" dt="2026-08-24T10:42:20.911" v="85"/>
          <ac:graphicFrameMkLst>
            <pc:docMk/>
            <pc:sldMk cId="1062789826" sldId="277"/>
            <ac:graphicFrameMk id="3" creationId="{FDF8103A-F04B-7777-7605-57A7DF669B99}"/>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2ee22140d38b093b/Desktop/Meta%20excel%20file.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2ee22140d38b093b/Desktop/Meta%20excel%20fil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91738\Desktop\NS%20Projects\NS%20SQL%20project\my_project\Charts%20and%20data%20visualization%20sheet.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 Meta excel file 1616.xlsx]Meta graphs !PivotTable15</c:name>
    <c:fmtId val="17"/>
  </c:pivotSource>
  <c:chart>
    <c:title>
      <c:tx>
        <c:rich>
          <a:bodyPr rot="0" spcFirstLastPara="1" vertOverflow="ellipsis" vert="horz" wrap="square" anchor="ctr" anchorCtr="1"/>
          <a:lstStyle/>
          <a:p>
            <a:pPr>
              <a:defRPr sz="2000" b="1" i="0" u="none" strike="noStrike" kern="1200" spc="0" baseline="0">
                <a:solidFill>
                  <a:schemeClr val="tx1">
                    <a:lumMod val="65000"/>
                    <a:lumOff val="35000"/>
                  </a:schemeClr>
                </a:solidFill>
                <a:latin typeface="+mn-lt"/>
                <a:ea typeface="+mn-ea"/>
                <a:cs typeface="+mn-cs"/>
              </a:defRPr>
            </a:pPr>
            <a:r>
              <a:rPr lang="en-US" sz="2000" b="1" baseline="0" dirty="0"/>
              <a:t>ENGAGEMENT LEVEL </a:t>
            </a:r>
            <a:endParaRPr lang="en-US" sz="2000" b="1" dirty="0"/>
          </a:p>
        </c:rich>
      </c:tx>
      <c:layout>
        <c:manualLayout>
          <c:xMode val="edge"/>
          <c:yMode val="edge"/>
          <c:x val="0.15174692105794468"/>
          <c:y val="2.5866398917755495E-2"/>
        </c:manualLayout>
      </c:layout>
      <c:overlay val="0"/>
      <c:spPr>
        <a:noFill/>
        <a:ln>
          <a:noFill/>
        </a:ln>
        <a:effectLst/>
      </c:spPr>
      <c:txPr>
        <a:bodyPr rot="0" spcFirstLastPara="1" vertOverflow="ellipsis" vert="horz" wrap="square" anchor="ctr" anchorCtr="1"/>
        <a:lstStyle/>
        <a:p>
          <a:pPr>
            <a:defRPr sz="2000" b="1"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marker>
          <c:symbol val="none"/>
        </c:marker>
        <c:dLbl>
          <c:idx val="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s>
    <c:plotArea>
      <c:layout/>
      <c:pieChart>
        <c:varyColors val="1"/>
        <c:ser>
          <c:idx val="0"/>
          <c:order val="0"/>
          <c:tx>
            <c:strRef>
              <c:f>'Meta graphs '!$AB$43</c:f>
              <c:strCache>
                <c:ptCount val="1"/>
                <c:pt idx="0">
                  <c:v>Total</c:v>
                </c:pt>
              </c:strCache>
            </c:strRef>
          </c:tx>
          <c:explosion val="2"/>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B8F-404C-A9D6-8B4154F225A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B8F-404C-A9D6-8B4154F225A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B8F-404C-A9D6-8B4154F225A5}"/>
              </c:ext>
            </c:extLst>
          </c:dPt>
          <c:dLbls>
            <c:dLbl>
              <c:idx val="0"/>
              <c:tx>
                <c:rich>
                  <a:bodyPr/>
                  <a:lstStyle/>
                  <a:p>
                    <a:r>
                      <a:rPr lang="en-US" baseline="0"/>
                      <a:t>Active Users</a:t>
                    </a:r>
                    <a:r>
                      <a:rPr lang="en-US" baseline="0" dirty="0"/>
                      <a:t>
</a:t>
                    </a:r>
                    <a:fld id="{6F62D9EA-005C-4BC1-B677-A5EDCB9E68B8}" type="PERCENTAGE">
                      <a:rPr lang="en-US" baseline="0"/>
                      <a:pPr/>
                      <a:t>[PERCENTAGE]</a:t>
                    </a:fld>
                    <a:endParaRPr lang="en-US" baseline="0" dirty="0"/>
                  </a:p>
                </c:rich>
              </c:tx>
              <c:dLblPos val="outEnd"/>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9B8F-404C-A9D6-8B4154F225A5}"/>
                </c:ext>
              </c:extLst>
            </c:dLbl>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0">
                <a:spAutoFit/>
              </a:bodyPr>
              <a:lstStyle/>
              <a:p>
                <a:pPr algn="ctr">
                  <a:defRPr lang="en-US" sz="1200" b="1" i="0" u="none" strike="noStrike" kern="1200" baseline="0">
                    <a:solidFill>
                      <a:schemeClr val="tx1">
                        <a:lumMod val="65000"/>
                        <a:lumOff val="35000"/>
                      </a:schemeClr>
                    </a:solidFill>
                    <a:latin typeface="+mn-lt"/>
                    <a:ea typeface="+mn-ea"/>
                    <a:cs typeface="+mn-cs"/>
                  </a:defRPr>
                </a:pPr>
                <a:endParaRPr lang="en-US"/>
              </a:p>
            </c:txPr>
            <c:dLblPos val="out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'Meta graphs '!$AA$44:$AA$46</c:f>
              <c:strCache>
                <c:ptCount val="3"/>
                <c:pt idx="0">
                  <c:v>Ative Users</c:v>
                </c:pt>
                <c:pt idx="1">
                  <c:v>Inactive Users</c:v>
                </c:pt>
                <c:pt idx="2">
                  <c:v>Moderately Active Users</c:v>
                </c:pt>
              </c:strCache>
            </c:strRef>
          </c:cat>
          <c:val>
            <c:numRef>
              <c:f>'Meta graphs '!$AB$44:$AB$46</c:f>
              <c:numCache>
                <c:formatCode>General</c:formatCode>
                <c:ptCount val="3"/>
                <c:pt idx="0">
                  <c:v>30</c:v>
                </c:pt>
                <c:pt idx="1">
                  <c:v>36</c:v>
                </c:pt>
                <c:pt idx="2">
                  <c:v>34</c:v>
                </c:pt>
              </c:numCache>
            </c:numRef>
          </c:val>
          <c:extLst>
            <c:ext xmlns:c16="http://schemas.microsoft.com/office/drawing/2014/chart" uri="{C3380CC4-5D6E-409C-BE32-E72D297353CC}">
              <c16:uniqueId val="{00000006-9B8F-404C-A9D6-8B4154F225A5}"/>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 Meta excel file 1616.xlsx]Meta graphs !PivotTable5</c:name>
    <c:fmtId val="-1"/>
  </c:pivotSource>
  <c:chart>
    <c:title>
      <c:tx>
        <c:rich>
          <a:bodyPr rot="0" spcFirstLastPara="1" vertOverflow="ellipsis" vert="horz" wrap="square" anchor="ctr" anchorCtr="1"/>
          <a:lstStyle/>
          <a:p>
            <a:pPr>
              <a:defRPr lang="en-IN" sz="1800" b="1" i="0" u="none" strike="noStrike" kern="1200" spc="0" baseline="0">
                <a:solidFill>
                  <a:sysClr val="windowText" lastClr="000000">
                    <a:lumMod val="65000"/>
                    <a:lumOff val="35000"/>
                  </a:sysClr>
                </a:solidFill>
                <a:latin typeface="+mn-lt"/>
                <a:ea typeface="+mn-ea"/>
                <a:cs typeface="+mn-cs"/>
              </a:defRPr>
            </a:pPr>
            <a:r>
              <a:rPr lang="en-IN" sz="1800" b="1" i="0" u="none" strike="noStrike" kern="1200" spc="0" baseline="0">
                <a:solidFill>
                  <a:sysClr val="windowText" lastClr="000000">
                    <a:lumMod val="65000"/>
                    <a:lumOff val="35000"/>
                  </a:sysClr>
                </a:solidFill>
                <a:latin typeface="+mn-lt"/>
                <a:ea typeface="+mn-ea"/>
                <a:cs typeface="+mn-cs"/>
              </a:rPr>
              <a:t>USER CLASSIFICATION</a:t>
            </a:r>
          </a:p>
        </c:rich>
      </c:tx>
      <c:layout>
        <c:manualLayout>
          <c:xMode val="edge"/>
          <c:yMode val="edge"/>
          <c:x val="0.21909179621778052"/>
          <c:y val="2.0833333333333332E-2"/>
        </c:manualLayout>
      </c:layout>
      <c:overlay val="0"/>
      <c:spPr>
        <a:noFill/>
        <a:ln>
          <a:noFill/>
        </a:ln>
        <a:effectLst/>
      </c:spPr>
      <c:txPr>
        <a:bodyPr rot="0" spcFirstLastPara="1" vertOverflow="ellipsis" vert="horz" wrap="square" anchor="ctr" anchorCtr="1"/>
        <a:lstStyle/>
        <a:p>
          <a:pPr>
            <a:defRPr lang="en-IN" sz="1800" b="1" i="0" u="none" strike="noStrike" kern="1200" spc="0" baseline="0">
              <a:solidFill>
                <a:sysClr val="windowText" lastClr="000000">
                  <a:lumMod val="65000"/>
                  <a:lumOff val="35000"/>
                </a:sys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pivotFmt>
      <c:pivotFmt>
        <c:idx val="3"/>
      </c:pivotFmt>
      <c:pivotFmt>
        <c:idx val="4"/>
        <c:spPr>
          <a:solidFill>
            <a:schemeClr val="accent1"/>
          </a:solidFill>
          <a:ln w="19050">
            <a:solidFill>
              <a:schemeClr val="lt1"/>
            </a:solidFill>
          </a:ln>
          <a:effectLst/>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dLbl>
          <c:idx val="0"/>
          <c:spPr>
            <a:noFill/>
            <a:ln>
              <a:noFill/>
            </a:ln>
            <a:effectLst/>
          </c:spPr>
          <c:txPr>
            <a:bodyPr rot="0" spcFirstLastPara="1" vertOverflow="ellipsis" vert="horz" wrap="square" lIns="38100" tIns="19050" rIns="38100" bIns="19050" anchor="ctr" anchorCtr="1">
              <a:spAutoFit/>
            </a:bodyPr>
            <a:lstStyle/>
            <a:p>
              <a:pPr>
                <a:defRPr lang="en-US" sz="1200" b="1" i="0" u="none" strike="noStrike" kern="1200" baseline="0">
                  <a:solidFill>
                    <a:sysClr val="windowText" lastClr="000000">
                      <a:lumMod val="75000"/>
                      <a:lumOff val="25000"/>
                    </a:sys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6"/>
        <c:spPr>
          <a:solidFill>
            <a:schemeClr val="accent2"/>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14B655A5-FC90-4D6B-9282-7584AB074CFB}" type="CATEGORYNAME">
                  <a:rPr lang="en-US" sz="1200" b="1"/>
                  <a:pPr>
                    <a:defRPr sz="900" b="0" i="0" u="none" strike="noStrike" kern="1200" baseline="0">
                      <a:solidFill>
                        <a:schemeClr val="tx1">
                          <a:lumMod val="75000"/>
                          <a:lumOff val="25000"/>
                        </a:schemeClr>
                      </a:solidFill>
                      <a:latin typeface="+mn-lt"/>
                      <a:ea typeface="+mn-ea"/>
                      <a:cs typeface="+mn-cs"/>
                    </a:defRPr>
                  </a:pPr>
                  <a:t>[CATEGORY NAME]</a:t>
                </a:fld>
                <a:r>
                  <a:rPr lang="en-US" sz="1200" b="1" baseline="0"/>
                  <a:t>
</a:t>
                </a:r>
                <a:fld id="{DEE2ED29-A020-4DE3-9205-C0C729EA7B8C}" type="PERCENTAGE">
                  <a:rPr lang="en-US" sz="1200" b="1" baseline="0"/>
                  <a:pPr>
                    <a:defRPr sz="900" b="0" i="0" u="none" strike="noStrike" kern="1200" baseline="0">
                      <a:solidFill>
                        <a:schemeClr val="tx1">
                          <a:lumMod val="75000"/>
                          <a:lumOff val="25000"/>
                        </a:schemeClr>
                      </a:solidFill>
                      <a:latin typeface="+mn-lt"/>
                      <a:ea typeface="+mn-ea"/>
                      <a:cs typeface="+mn-cs"/>
                    </a:defRPr>
                  </a:pPr>
                  <a:t>[PERCENTAGE]</a:t>
                </a:fld>
                <a:endParaRPr lang="en-US" sz="1200" b="1" baseline="0"/>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15:dlblFieldTable/>
              <c15:showDataLabelsRange val="0"/>
            </c:ext>
          </c:extLst>
        </c:dLbl>
      </c:pivotFmt>
      <c:pivotFmt>
        <c:idx val="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dLbl>
          <c:idx val="0"/>
          <c:spPr>
            <a:noFill/>
            <a:ln>
              <a:noFill/>
            </a:ln>
            <a:effectLst/>
          </c:spPr>
          <c:txPr>
            <a:bodyPr rot="0" spcFirstLastPara="1" vertOverflow="ellipsis" vert="horz" wrap="square" lIns="38100" tIns="19050" rIns="38100" bIns="19050" anchor="ctr" anchorCtr="1">
              <a:spAutoFit/>
            </a:bodyPr>
            <a:lstStyle/>
            <a:p>
              <a:pPr>
                <a:defRPr lang="en-US" sz="1200" b="1" i="0" u="none" strike="noStrike" kern="1200" baseline="0">
                  <a:solidFill>
                    <a:sysClr val="windowText" lastClr="000000">
                      <a:lumMod val="75000"/>
                      <a:lumOff val="25000"/>
                    </a:sysClr>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14B655A5-FC90-4D6B-9282-7584AB074CFB}" type="CATEGORYNAME">
                  <a:rPr lang="en-US" sz="1200" b="1"/>
                  <a:pPr>
                    <a:defRPr sz="900" b="0" i="0" u="none" strike="noStrike" kern="1200" baseline="0">
                      <a:solidFill>
                        <a:schemeClr val="tx1">
                          <a:lumMod val="75000"/>
                          <a:lumOff val="25000"/>
                        </a:schemeClr>
                      </a:solidFill>
                      <a:latin typeface="+mn-lt"/>
                      <a:ea typeface="+mn-ea"/>
                      <a:cs typeface="+mn-cs"/>
                    </a:defRPr>
                  </a:pPr>
                  <a:t>[CATEGORY NAME]</a:t>
                </a:fld>
                <a:r>
                  <a:rPr lang="en-US" sz="1200" b="1" baseline="0"/>
                  <a:t>
</a:t>
                </a:r>
                <a:fld id="{DEE2ED29-A020-4DE3-9205-C0C729EA7B8C}" type="PERCENTAGE">
                  <a:rPr lang="en-US" sz="1200" b="1" baseline="0"/>
                  <a:pPr>
                    <a:defRPr sz="900" b="0" i="0" u="none" strike="noStrike" kern="1200" baseline="0">
                      <a:solidFill>
                        <a:schemeClr val="tx1">
                          <a:lumMod val="75000"/>
                          <a:lumOff val="25000"/>
                        </a:schemeClr>
                      </a:solidFill>
                      <a:latin typeface="+mn-lt"/>
                      <a:ea typeface="+mn-ea"/>
                      <a:cs typeface="+mn-cs"/>
                    </a:defRPr>
                  </a:pPr>
                  <a:t>[PERCENTAGE]</a:t>
                </a:fld>
                <a:endParaRPr lang="en-US" sz="1200" b="1" baseline="0"/>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15:dlblFieldTable/>
              <c15:showDataLabelsRange val="0"/>
            </c:ext>
          </c:extLst>
        </c:dLbl>
      </c:pivotFmt>
      <c:pivotFmt>
        <c:idx val="1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11"/>
        <c:spPr>
          <a:solidFill>
            <a:schemeClr val="accent1"/>
          </a:solidFill>
          <a:ln w="19050">
            <a:solidFill>
              <a:schemeClr val="lt1"/>
            </a:solidFill>
          </a:ln>
          <a:effectLst/>
        </c:spPr>
        <c:dLbl>
          <c:idx val="0"/>
          <c:spPr>
            <a:noFill/>
            <a:ln>
              <a:noFill/>
            </a:ln>
            <a:effectLst/>
          </c:spPr>
          <c:txPr>
            <a:bodyPr rot="0" spcFirstLastPara="1" vertOverflow="ellipsis" vert="horz" wrap="square" lIns="38100" tIns="19050" rIns="38100" bIns="19050" anchor="ctr" anchorCtr="1">
              <a:spAutoFit/>
            </a:bodyPr>
            <a:lstStyle/>
            <a:p>
              <a:pPr>
                <a:defRPr lang="en-US" sz="1200" b="1" i="0" u="none" strike="noStrike" kern="1200" baseline="0">
                  <a:solidFill>
                    <a:sysClr val="windowText" lastClr="000000">
                      <a:lumMod val="75000"/>
                      <a:lumOff val="25000"/>
                    </a:sysClr>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14B655A5-FC90-4D6B-9282-7584AB074CFB}" type="CATEGORYNAME">
                  <a:rPr lang="en-US" sz="1200" b="1"/>
                  <a:pPr>
                    <a:defRPr sz="900" b="0" i="0" u="none" strike="noStrike" kern="1200" baseline="0">
                      <a:solidFill>
                        <a:schemeClr val="tx1">
                          <a:lumMod val="75000"/>
                          <a:lumOff val="25000"/>
                        </a:schemeClr>
                      </a:solidFill>
                      <a:latin typeface="+mn-lt"/>
                      <a:ea typeface="+mn-ea"/>
                      <a:cs typeface="+mn-cs"/>
                    </a:defRPr>
                  </a:pPr>
                  <a:t>[CATEGORY NAME]</a:t>
                </a:fld>
                <a:r>
                  <a:rPr lang="en-US" sz="1200" b="1" baseline="0"/>
                  <a:t>
</a:t>
                </a:r>
                <a:fld id="{DEE2ED29-A020-4DE3-9205-C0C729EA7B8C}" type="PERCENTAGE">
                  <a:rPr lang="en-US" sz="1200" b="1" baseline="0"/>
                  <a:pPr>
                    <a:defRPr sz="900" b="0" i="0" u="none" strike="noStrike" kern="1200" baseline="0">
                      <a:solidFill>
                        <a:schemeClr val="tx1">
                          <a:lumMod val="75000"/>
                          <a:lumOff val="25000"/>
                        </a:schemeClr>
                      </a:solidFill>
                      <a:latin typeface="+mn-lt"/>
                      <a:ea typeface="+mn-ea"/>
                      <a:cs typeface="+mn-cs"/>
                    </a:defRPr>
                  </a:pPr>
                  <a:t>[PERCENTAGE]</a:t>
                </a:fld>
                <a:endParaRPr lang="en-US" sz="1200" b="1" baseline="0"/>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1"/>
          <c:showSerName val="0"/>
          <c:showPercent val="1"/>
          <c:showBubbleSize val="0"/>
          <c:extLst>
            <c:ext xmlns:c15="http://schemas.microsoft.com/office/drawing/2012/chart" uri="{CE6537A1-D6FC-4f65-9D91-7224C49458BB}">
              <c15:dlblFieldTable/>
              <c15:showDataLabelsRange val="0"/>
            </c:ext>
          </c:extLst>
        </c:dLbl>
      </c:pivotFmt>
    </c:pivotFmts>
    <c:plotArea>
      <c:layout>
        <c:manualLayout>
          <c:layoutTarget val="inner"/>
          <c:xMode val="edge"/>
          <c:yMode val="edge"/>
          <c:x val="3.9467899671852075E-2"/>
          <c:y val="0.10490148559714907"/>
          <c:w val="0.71857506103137614"/>
          <c:h val="0.84552733153891313"/>
        </c:manualLayout>
      </c:layout>
      <c:pieChart>
        <c:varyColors val="1"/>
        <c:ser>
          <c:idx val="0"/>
          <c:order val="0"/>
          <c:tx>
            <c:strRef>
              <c:f>'Meta graphs '!$AH$43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A1F-4C1E-A24E-DCD7CC9EFD6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A1F-4C1E-A24E-DCD7CC9EFD61}"/>
              </c:ext>
            </c:extLst>
          </c:dPt>
          <c:dLbls>
            <c:dLbl>
              <c:idx val="0"/>
              <c:spPr>
                <a:noFill/>
                <a:ln>
                  <a:noFill/>
                </a:ln>
                <a:effectLst/>
              </c:spPr>
              <c:txPr>
                <a:bodyPr rot="0" spcFirstLastPara="1" vertOverflow="ellipsis" vert="horz" wrap="square" lIns="38100" tIns="19050" rIns="38100" bIns="19050" anchor="ctr" anchorCtr="1">
                  <a:spAutoFit/>
                </a:bodyPr>
                <a:lstStyle/>
                <a:p>
                  <a:pPr>
                    <a:defRPr lang="en-US" sz="1200" b="1" i="0" u="none" strike="noStrike" kern="1200" baseline="0">
                      <a:solidFill>
                        <a:sysClr val="windowText" lastClr="000000">
                          <a:lumMod val="75000"/>
                          <a:lumOff val="25000"/>
                        </a:sysClr>
                      </a:solidFill>
                      <a:latin typeface="+mn-lt"/>
                      <a:ea typeface="+mn-ea"/>
                      <a:cs typeface="+mn-cs"/>
                    </a:defRPr>
                  </a:pPr>
                  <a:endParaRPr lang="en-US"/>
                </a:p>
              </c:txPr>
              <c:dLblPos val="ctr"/>
              <c:showLegendKey val="0"/>
              <c:showVal val="0"/>
              <c:showCatName val="1"/>
              <c:showSerName val="0"/>
              <c:showPercent val="1"/>
              <c:showBubbleSize val="0"/>
              <c:extLst>
                <c:ext xmlns:c16="http://schemas.microsoft.com/office/drawing/2014/chart" uri="{C3380CC4-5D6E-409C-BE32-E72D297353CC}">
                  <c16:uniqueId val="{00000001-0A1F-4C1E-A24E-DCD7CC9EFD61}"/>
                </c:ext>
              </c:extLst>
            </c:dLbl>
            <c:dLbl>
              <c:idx val="1"/>
              <c:tx>
                <c:rich>
                  <a:bodyPr/>
                  <a:lstStyle/>
                  <a:p>
                    <a:fld id="{14B655A5-FC90-4D6B-9282-7584AB074CFB}" type="CATEGORYNAME">
                      <a:rPr lang="en-US" sz="1200" b="1"/>
                      <a:pPr/>
                      <a:t>[CATEGORY NAME]</a:t>
                    </a:fld>
                    <a:r>
                      <a:rPr lang="en-US" sz="1200" b="1" baseline="0"/>
                      <a:t>
</a:t>
                    </a:r>
                    <a:fld id="{DEE2ED29-A020-4DE3-9205-C0C729EA7B8C}" type="PERCENTAGE">
                      <a:rPr lang="en-US" sz="1200" b="1" baseline="0"/>
                      <a:pPr/>
                      <a:t>[PERCENTAGE]</a:t>
                    </a:fld>
                    <a:endParaRPr lang="en-US" sz="1200" b="1" baseline="0"/>
                  </a:p>
                </c:rich>
              </c:tx>
              <c:dLblPos val="ctr"/>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A1F-4C1E-A24E-DCD7CC9EFD61}"/>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'Meta graphs '!$AG$44:$AG$45</c:f>
              <c:strCache>
                <c:ptCount val="2"/>
                <c:pt idx="0">
                  <c:v>New User</c:v>
                </c:pt>
                <c:pt idx="1">
                  <c:v>Old Users</c:v>
                </c:pt>
              </c:strCache>
            </c:strRef>
          </c:cat>
          <c:val>
            <c:numRef>
              <c:f>'Meta graphs '!$AH$44:$AH$45</c:f>
              <c:numCache>
                <c:formatCode>General</c:formatCode>
                <c:ptCount val="2"/>
                <c:pt idx="0">
                  <c:v>35</c:v>
                </c:pt>
                <c:pt idx="1">
                  <c:v>65</c:v>
                </c:pt>
              </c:numCache>
            </c:numRef>
          </c:val>
          <c:extLst>
            <c:ext xmlns:c16="http://schemas.microsoft.com/office/drawing/2014/chart" uri="{C3380CC4-5D6E-409C-BE32-E72D297353CC}">
              <c16:uniqueId val="{00000004-0A1F-4C1E-A24E-DCD7CC9EFD61}"/>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76076910363538419"/>
          <c:y val="0.27172585092413865"/>
          <c:w val="0.2186881017754152"/>
          <c:h val="0.2255372656222383"/>
        </c:manualLayout>
      </c:layout>
      <c:overlay val="0"/>
      <c:spPr>
        <a:noFill/>
        <a:ln>
          <a:noFill/>
        </a:ln>
        <a:effectLst/>
      </c:spPr>
      <c:txPr>
        <a:bodyPr rot="0" spcFirstLastPara="1" vertOverflow="ellipsis" vert="horz" wrap="square" anchor="ctr" anchorCtr="1"/>
        <a:lstStyle/>
        <a:p>
          <a:pPr algn="ctr">
            <a:defRPr lang="en-US" sz="1200" b="1" i="0" u="none" strike="noStrike" kern="1200" baseline="0">
              <a:solidFill>
                <a:sysClr val="windowText" lastClr="000000">
                  <a:lumMod val="75000"/>
                  <a:lumOff val="25000"/>
                </a:sys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lang="en-IN" sz="1920" b="1" i="0" u="none" strike="noStrike" kern="1200" spc="0" baseline="0">
                <a:solidFill>
                  <a:sysClr val="windowText" lastClr="000000">
                    <a:lumMod val="65000"/>
                    <a:lumOff val="35000"/>
                  </a:sysClr>
                </a:solidFill>
                <a:latin typeface="+mn-lt"/>
                <a:ea typeface="+mn-ea"/>
                <a:cs typeface="+mn-cs"/>
              </a:defRPr>
            </a:pPr>
            <a:r>
              <a:rPr lang="en-IN" sz="1920" b="1" i="0" u="none" strike="noStrike" kern="1200" spc="0" baseline="0" dirty="0">
                <a:solidFill>
                  <a:sysClr val="windowText" lastClr="000000">
                    <a:lumMod val="65000"/>
                    <a:lumOff val="35000"/>
                  </a:sysClr>
                </a:solidFill>
                <a:latin typeface="+mn-lt"/>
                <a:ea typeface="+mn-ea"/>
                <a:cs typeface="+mn-cs"/>
              </a:rPr>
              <a:t>AVERAGE ENGAGEMENT RATE </a:t>
            </a:r>
          </a:p>
        </c:rich>
      </c:tx>
      <c:layout>
        <c:manualLayout>
          <c:xMode val="edge"/>
          <c:yMode val="edge"/>
          <c:x val="0.30160589149657263"/>
          <c:y val="5.5555555555555552E-2"/>
        </c:manualLayout>
      </c:layout>
      <c:overlay val="0"/>
      <c:spPr>
        <a:noFill/>
        <a:ln>
          <a:noFill/>
        </a:ln>
        <a:effectLst/>
      </c:spPr>
      <c:txPr>
        <a:bodyPr rot="0" spcFirstLastPara="1" vertOverflow="ellipsis" vert="horz" wrap="square" anchor="ctr" anchorCtr="1"/>
        <a:lstStyle/>
        <a:p>
          <a:pPr algn="ctr" rtl="0">
            <a:defRPr lang="en-IN" sz="1920" b="1" i="0" u="none" strike="noStrike" kern="1200" spc="0" baseline="0">
              <a:solidFill>
                <a:sysClr val="windowText" lastClr="000000">
                  <a:lumMod val="65000"/>
                  <a:lumOff val="35000"/>
                </a:sysClr>
              </a:solidFill>
              <a:latin typeface="+mn-lt"/>
              <a:ea typeface="+mn-ea"/>
              <a:cs typeface="+mn-cs"/>
            </a:defRPr>
          </a:pPr>
          <a:endParaRPr lang="en-US"/>
        </a:p>
      </c:txPr>
    </c:title>
    <c:autoTitleDeleted val="0"/>
    <c:plotArea>
      <c:layout>
        <c:manualLayout>
          <c:layoutTarget val="inner"/>
          <c:xMode val="edge"/>
          <c:yMode val="edge"/>
          <c:x val="6.4852967408200193E-2"/>
          <c:y val="0.16767370224555264"/>
          <c:w val="0.91734767984099075"/>
          <c:h val="0.5452878025663459"/>
        </c:manualLayout>
      </c:layout>
      <c:barChart>
        <c:barDir val="col"/>
        <c:grouping val="clustered"/>
        <c:varyColors val="0"/>
        <c:ser>
          <c:idx val="0"/>
          <c:order val="0"/>
          <c:tx>
            <c:strRef>
              <c:f>'Meta graphs '!$D$64</c:f>
              <c:strCache>
                <c:ptCount val="1"/>
                <c:pt idx="0">
                  <c:v>avg_engagement_rate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'Meta graphs '!$C$65:$C$84</c:f>
              <c:strCache>
                <c:ptCount val="20"/>
                <c:pt idx="0">
                  <c:v>Meggie_Doyle</c:v>
                </c:pt>
                <c:pt idx="1">
                  <c:v>Jaylan.Lakin</c:v>
                </c:pt>
                <c:pt idx="2">
                  <c:v>Granville_Kutch</c:v>
                </c:pt>
                <c:pt idx="3">
                  <c:v>Kenneth64</c:v>
                </c:pt>
                <c:pt idx="4">
                  <c:v>Karley_Bosco</c:v>
                </c:pt>
                <c:pt idx="5">
                  <c:v>Rick29</c:v>
                </c:pt>
                <c:pt idx="6">
                  <c:v>Damon35</c:v>
                </c:pt>
                <c:pt idx="7">
                  <c:v>Odessa2</c:v>
                </c:pt>
                <c:pt idx="8">
                  <c:v>Janet.Armstrong</c:v>
                </c:pt>
                <c:pt idx="9">
                  <c:v>Malinda_Streich</c:v>
                </c:pt>
                <c:pt idx="10">
                  <c:v>Zack_Kemmer93</c:v>
                </c:pt>
                <c:pt idx="11">
                  <c:v>Aracely.Johnston98</c:v>
                </c:pt>
                <c:pt idx="12">
                  <c:v>Alexandro35</c:v>
                </c:pt>
                <c:pt idx="13">
                  <c:v>Annalise.McKenzie16</c:v>
                </c:pt>
                <c:pt idx="14">
                  <c:v>Kelsi26</c:v>
                </c:pt>
                <c:pt idx="15">
                  <c:v>Seth46</c:v>
                </c:pt>
                <c:pt idx="16">
                  <c:v>Jayson65</c:v>
                </c:pt>
                <c:pt idx="17">
                  <c:v>Ressie_Stanton46</c:v>
                </c:pt>
                <c:pt idx="18">
                  <c:v>Keenan.Schamberger60</c:v>
                </c:pt>
                <c:pt idx="19">
                  <c:v>Presley_McClure</c:v>
                </c:pt>
              </c:strCache>
            </c:strRef>
          </c:cat>
          <c:val>
            <c:numRef>
              <c:f>'Meta graphs '!$D$65:$D$84</c:f>
              <c:numCache>
                <c:formatCode>General</c:formatCode>
                <c:ptCount val="20"/>
                <c:pt idx="0">
                  <c:v>75</c:v>
                </c:pt>
                <c:pt idx="1">
                  <c:v>73</c:v>
                </c:pt>
                <c:pt idx="2">
                  <c:v>71</c:v>
                </c:pt>
                <c:pt idx="3">
                  <c:v>70</c:v>
                </c:pt>
                <c:pt idx="4">
                  <c:v>68</c:v>
                </c:pt>
                <c:pt idx="5">
                  <c:v>68</c:v>
                </c:pt>
                <c:pt idx="6">
                  <c:v>68</c:v>
                </c:pt>
                <c:pt idx="7">
                  <c:v>67</c:v>
                </c:pt>
                <c:pt idx="8">
                  <c:v>67</c:v>
                </c:pt>
                <c:pt idx="9">
                  <c:v>67</c:v>
                </c:pt>
                <c:pt idx="10">
                  <c:v>67</c:v>
                </c:pt>
                <c:pt idx="11">
                  <c:v>67</c:v>
                </c:pt>
                <c:pt idx="12">
                  <c:v>66</c:v>
                </c:pt>
                <c:pt idx="13">
                  <c:v>66</c:v>
                </c:pt>
                <c:pt idx="14">
                  <c:v>66</c:v>
                </c:pt>
                <c:pt idx="15">
                  <c:v>66</c:v>
                </c:pt>
                <c:pt idx="16">
                  <c:v>66</c:v>
                </c:pt>
                <c:pt idx="17">
                  <c:v>66</c:v>
                </c:pt>
                <c:pt idx="18">
                  <c:v>66</c:v>
                </c:pt>
                <c:pt idx="19">
                  <c:v>65</c:v>
                </c:pt>
              </c:numCache>
            </c:numRef>
          </c:val>
          <c:extLst>
            <c:ext xmlns:c16="http://schemas.microsoft.com/office/drawing/2014/chart" uri="{C3380CC4-5D6E-409C-BE32-E72D297353CC}">
              <c16:uniqueId val="{00000000-8E8B-4621-BCF6-12FC36962B90}"/>
            </c:ext>
          </c:extLst>
        </c:ser>
        <c:dLbls>
          <c:dLblPos val="outEnd"/>
          <c:showLegendKey val="0"/>
          <c:showVal val="1"/>
          <c:showCatName val="0"/>
          <c:showSerName val="0"/>
          <c:showPercent val="0"/>
          <c:showBubbleSize val="0"/>
        </c:dLbls>
        <c:gapWidth val="219"/>
        <c:overlap val="-27"/>
        <c:axId val="2006949072"/>
        <c:axId val="2006950512"/>
      </c:barChart>
      <c:catAx>
        <c:axId val="2006949072"/>
        <c:scaling>
          <c:orientation val="minMax"/>
        </c:scaling>
        <c:delete val="0"/>
        <c:axPos val="b"/>
        <c:title>
          <c:tx>
            <c:rich>
              <a:bodyPr rot="0" spcFirstLastPara="1" vertOverflow="ellipsis" vert="horz" wrap="square" anchor="ctr" anchorCtr="1"/>
              <a:lstStyle/>
              <a:p>
                <a:pPr algn="ctr" rtl="0">
                  <a:defRPr lang="en-IN" sz="1600" b="1" i="0" u="none" strike="noStrike" kern="1200" spc="0" baseline="0">
                    <a:solidFill>
                      <a:sysClr val="windowText" lastClr="000000">
                        <a:lumMod val="65000"/>
                        <a:lumOff val="35000"/>
                      </a:sysClr>
                    </a:solidFill>
                    <a:latin typeface="+mn-lt"/>
                    <a:ea typeface="+mn-ea"/>
                    <a:cs typeface="+mn-cs"/>
                  </a:defRPr>
                </a:pPr>
                <a:r>
                  <a:rPr lang="en-IN" sz="1600" b="1" i="0" u="none" strike="noStrike" kern="1200" spc="0" baseline="0">
                    <a:solidFill>
                      <a:sysClr val="windowText" lastClr="000000">
                        <a:lumMod val="65000"/>
                        <a:lumOff val="35000"/>
                      </a:sysClr>
                    </a:solidFill>
                    <a:latin typeface="+mn-lt"/>
                    <a:ea typeface="+mn-ea"/>
                    <a:cs typeface="+mn-cs"/>
                  </a:rPr>
                  <a:t>USERS</a:t>
                </a:r>
              </a:p>
            </c:rich>
          </c:tx>
          <c:layout>
            <c:manualLayout>
              <c:xMode val="edge"/>
              <c:yMode val="edge"/>
              <c:x val="0.45519863415131367"/>
              <c:y val="0.92491889034703978"/>
            </c:manualLayout>
          </c:layout>
          <c:overlay val="0"/>
          <c:spPr>
            <a:noFill/>
            <a:ln>
              <a:noFill/>
            </a:ln>
            <a:effectLst/>
          </c:spPr>
          <c:txPr>
            <a:bodyPr rot="0" spcFirstLastPara="1" vertOverflow="ellipsis" vert="horz" wrap="square" anchor="ctr" anchorCtr="1"/>
            <a:lstStyle/>
            <a:p>
              <a:pPr algn="ctr" rtl="0">
                <a:defRPr lang="en-IN" sz="1600" b="1" i="0" u="none" strike="noStrike" kern="1200" spc="0" baseline="0">
                  <a:solidFill>
                    <a:sysClr val="windowText" lastClr="000000">
                      <a:lumMod val="65000"/>
                      <a:lumOff val="35000"/>
                    </a:sys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1" i="0" u="none" strike="noStrike" kern="1200" baseline="0">
                <a:solidFill>
                  <a:schemeClr val="tx1">
                    <a:lumMod val="65000"/>
                    <a:lumOff val="35000"/>
                  </a:schemeClr>
                </a:solidFill>
                <a:latin typeface="+mn-lt"/>
                <a:ea typeface="+mn-ea"/>
                <a:cs typeface="+mn-cs"/>
              </a:defRPr>
            </a:pPr>
            <a:endParaRPr lang="en-US"/>
          </a:p>
        </c:txPr>
        <c:crossAx val="2006950512"/>
        <c:crosses val="autoZero"/>
        <c:auto val="1"/>
        <c:lblAlgn val="ctr"/>
        <c:lblOffset val="100"/>
        <c:noMultiLvlLbl val="0"/>
      </c:catAx>
      <c:valAx>
        <c:axId val="2006950512"/>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crossAx val="200694907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b="1"/>
              <a:t>Average likes per tag</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Objective!$AG$3</c:f>
              <c:strCache>
                <c:ptCount val="1"/>
                <c:pt idx="0">
                  <c:v>avg_likes</c:v>
                </c:pt>
              </c:strCache>
            </c:strRef>
          </c:tx>
          <c:spPr>
            <a:solidFill>
              <a:schemeClr val="accent1"/>
            </a:solidFill>
            <a:ln>
              <a:noFill/>
            </a:ln>
            <a:effectLst/>
          </c:spPr>
          <c:invertIfNegative val="0"/>
          <c:cat>
            <c:strRef>
              <c:f>Objective!$AF$4:$AF$24</c:f>
              <c:strCache>
                <c:ptCount val="21"/>
                <c:pt idx="0">
                  <c:v>dreamy</c:v>
                </c:pt>
                <c:pt idx="1">
                  <c:v>beauty</c:v>
                </c:pt>
                <c:pt idx="2">
                  <c:v>delicious</c:v>
                </c:pt>
                <c:pt idx="3">
                  <c:v>foodie</c:v>
                </c:pt>
                <c:pt idx="4">
                  <c:v>hair</c:v>
                </c:pt>
                <c:pt idx="5">
                  <c:v>happy</c:v>
                </c:pt>
                <c:pt idx="6">
                  <c:v>photography</c:v>
                </c:pt>
                <c:pt idx="7">
                  <c:v>stunning</c:v>
                </c:pt>
                <c:pt idx="8">
                  <c:v>beach</c:v>
                </c:pt>
                <c:pt idx="9">
                  <c:v>concert</c:v>
                </c:pt>
                <c:pt idx="10">
                  <c:v>drunk</c:v>
                </c:pt>
                <c:pt idx="11">
                  <c:v>fashion</c:v>
                </c:pt>
                <c:pt idx="12">
                  <c:v>food</c:v>
                </c:pt>
                <c:pt idx="13">
                  <c:v>fun</c:v>
                </c:pt>
                <c:pt idx="14">
                  <c:v>landscape</c:v>
                </c:pt>
                <c:pt idx="15">
                  <c:v>lol</c:v>
                </c:pt>
                <c:pt idx="16">
                  <c:v>party</c:v>
                </c:pt>
                <c:pt idx="17">
                  <c:v>smile</c:v>
                </c:pt>
                <c:pt idx="18">
                  <c:v>style</c:v>
                </c:pt>
                <c:pt idx="19">
                  <c:v>sunrise</c:v>
                </c:pt>
                <c:pt idx="20">
                  <c:v>sunset</c:v>
                </c:pt>
              </c:strCache>
            </c:strRef>
          </c:cat>
          <c:val>
            <c:numRef>
              <c:f>Objective!$AG$4:$AG$24</c:f>
              <c:numCache>
                <c:formatCode>General</c:formatCode>
                <c:ptCount val="21"/>
                <c:pt idx="0">
                  <c:v>36</c:v>
                </c:pt>
                <c:pt idx="1">
                  <c:v>35</c:v>
                </c:pt>
                <c:pt idx="2">
                  <c:v>35</c:v>
                </c:pt>
                <c:pt idx="3">
                  <c:v>35</c:v>
                </c:pt>
                <c:pt idx="4">
                  <c:v>35</c:v>
                </c:pt>
                <c:pt idx="5">
                  <c:v>35</c:v>
                </c:pt>
                <c:pt idx="6">
                  <c:v>35</c:v>
                </c:pt>
                <c:pt idx="7">
                  <c:v>35</c:v>
                </c:pt>
                <c:pt idx="8">
                  <c:v>34</c:v>
                </c:pt>
                <c:pt idx="9">
                  <c:v>34</c:v>
                </c:pt>
                <c:pt idx="10">
                  <c:v>34</c:v>
                </c:pt>
                <c:pt idx="11">
                  <c:v>34</c:v>
                </c:pt>
                <c:pt idx="12">
                  <c:v>34</c:v>
                </c:pt>
                <c:pt idx="13">
                  <c:v>34</c:v>
                </c:pt>
                <c:pt idx="14">
                  <c:v>34</c:v>
                </c:pt>
                <c:pt idx="15">
                  <c:v>34</c:v>
                </c:pt>
                <c:pt idx="16">
                  <c:v>34</c:v>
                </c:pt>
                <c:pt idx="17">
                  <c:v>34</c:v>
                </c:pt>
                <c:pt idx="18">
                  <c:v>34</c:v>
                </c:pt>
                <c:pt idx="19">
                  <c:v>34</c:v>
                </c:pt>
                <c:pt idx="20">
                  <c:v>34</c:v>
                </c:pt>
              </c:numCache>
            </c:numRef>
          </c:val>
          <c:extLst>
            <c:ext xmlns:c16="http://schemas.microsoft.com/office/drawing/2014/chart" uri="{C3380CC4-5D6E-409C-BE32-E72D297353CC}">
              <c16:uniqueId val="{00000000-D00A-470A-B768-3EFE5C515ACE}"/>
            </c:ext>
          </c:extLst>
        </c:ser>
        <c:dLbls>
          <c:showLegendKey val="0"/>
          <c:showVal val="0"/>
          <c:showCatName val="0"/>
          <c:showSerName val="0"/>
          <c:showPercent val="0"/>
          <c:showBubbleSize val="0"/>
        </c:dLbls>
        <c:gapWidth val="219"/>
        <c:overlap val="-27"/>
        <c:axId val="767273983"/>
        <c:axId val="767281471"/>
      </c:barChart>
      <c:catAx>
        <c:axId val="7672739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67281471"/>
        <c:crosses val="autoZero"/>
        <c:auto val="1"/>
        <c:lblAlgn val="ctr"/>
        <c:lblOffset val="100"/>
        <c:noMultiLvlLbl val="0"/>
      </c:catAx>
      <c:valAx>
        <c:axId val="76728147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6727398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D4EBA4-F8A1-411E-8471-5907C6097E19}" type="datetimeFigureOut">
              <a:rPr lang="en-IN" smtClean="0"/>
              <a:t>24-08-2026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7F1A6A-9763-4EDC-90D6-C61537D7F916}" type="slidenum">
              <a:rPr lang="en-IN" smtClean="0"/>
              <a:t>‹#›</a:t>
            </a:fld>
            <a:endParaRPr lang="en-IN"/>
          </a:p>
        </p:txBody>
      </p:sp>
    </p:spTree>
    <p:extLst>
      <p:ext uri="{BB962C8B-B14F-4D97-AF65-F5344CB8AC3E}">
        <p14:creationId xmlns:p14="http://schemas.microsoft.com/office/powerpoint/2010/main" val="1575433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20247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74344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8/24/2026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2CEF3B-A037-46D0-B02C-1428F07E9383}" type="datetimeFigureOut">
              <a:rPr lang="en-US" dirty="0"/>
              <a:t>8/24/2026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CE482DC-2269-4F26-9D2A-7E44B1A4CD8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8/24/2026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8/24/2026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8/24/2026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8/24/2026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96DFF08F-DC6B-4601-B491-B0F83F6DD2DA}" type="datetimeFigureOut">
              <a:rPr lang="en-US" dirty="0"/>
              <a:pPr/>
              <a:t>8/24/2026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96DFF08F-DC6B-4601-B491-B0F83F6DD2DA}" type="datetimeFigureOut">
              <a:rPr lang="en-US" dirty="0"/>
              <a:pPr/>
              <a:t>8/24/2026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8/24/2026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8/24/2026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8/24/2026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6DFF08F-DC6B-4601-B491-B0F83F6DD2DA}" type="datetimeFigureOut">
              <a:rPr lang="en-US" dirty="0"/>
              <a:pPr/>
              <a:t>8/24/2026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av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ctr"/>
            <a:r>
              <a:rPr lang="en-IN" b="1" dirty="0"/>
              <a:t>Optimizing Instagram Engagement</a:t>
            </a:r>
          </a:p>
        </p:txBody>
      </p:sp>
      <p:sp>
        <p:nvSpPr>
          <p:cNvPr id="3" name="Subtitle 2"/>
          <p:cNvSpPr>
            <a:spLocks noGrp="1"/>
          </p:cNvSpPr>
          <p:nvPr>
            <p:ph type="subTitle" idx="1"/>
          </p:nvPr>
        </p:nvSpPr>
        <p:spPr/>
        <p:txBody>
          <a:bodyPr>
            <a:normAutofit/>
          </a:bodyPr>
          <a:lstStyle/>
          <a:p>
            <a:r>
              <a:rPr lang="en-US" dirty="0"/>
              <a:t>Leveraging User Data for Acquisition, Retention, and Engagement Growth</a:t>
            </a:r>
            <a:endParaRPr lang="en-IN" dirty="0"/>
          </a:p>
        </p:txBody>
      </p:sp>
      <p:sp>
        <p:nvSpPr>
          <p:cNvPr id="4" name="Rectangle 3"/>
          <p:cNvSpPr/>
          <p:nvPr/>
        </p:nvSpPr>
        <p:spPr>
          <a:xfrm>
            <a:off x="8543925" y="5598621"/>
            <a:ext cx="2990851" cy="461665"/>
          </a:xfrm>
          <a:prstGeom prst="rect">
            <a:avLst/>
          </a:prstGeom>
        </p:spPr>
        <p:txBody>
          <a:bodyPr wrap="square">
            <a:spAutoFit/>
          </a:bodyPr>
          <a:lstStyle/>
          <a:p>
            <a:r>
              <a:rPr lang="en-IN" sz="2400" dirty="0"/>
              <a:t>By- Vishal Raj</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17" y="157162"/>
            <a:ext cx="2143125" cy="2143125"/>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53650" y="297288"/>
            <a:ext cx="2038350" cy="2038350"/>
          </a:xfrm>
          <a:prstGeom prst="rect">
            <a:avLst/>
          </a:prstGeom>
        </p:spPr>
      </p:pic>
      <p:sp>
        <p:nvSpPr>
          <p:cNvPr id="10" name="Subtitle 2"/>
          <p:cNvSpPr txBox="1">
            <a:spLocks/>
          </p:cNvSpPr>
          <p:nvPr/>
        </p:nvSpPr>
        <p:spPr>
          <a:xfrm>
            <a:off x="25717" y="956745"/>
            <a:ext cx="12166283" cy="60535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gn="ctr"/>
            <a:r>
              <a:rPr lang="en-IN" sz="2800" b="1" dirty="0"/>
              <a:t>SQL: Social Media Project</a:t>
            </a:r>
          </a:p>
        </p:txBody>
      </p:sp>
    </p:spTree>
    <p:extLst>
      <p:ext uri="{BB962C8B-B14F-4D97-AF65-F5344CB8AC3E}">
        <p14:creationId xmlns:p14="http://schemas.microsoft.com/office/powerpoint/2010/main" val="3443354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097280" y="153253"/>
            <a:ext cx="10058400" cy="98974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altLang="en-US" sz="4000" b="1" dirty="0">
                <a:solidFill>
                  <a:srgbClr val="1F1F1F"/>
                </a:solidFill>
                <a:latin typeface="+mn-lt"/>
              </a:rPr>
              <a:t>Table of Contents</a:t>
            </a:r>
            <a:endParaRPr lang="en-IN" sz="4000" b="1" dirty="0">
              <a:latin typeface="+mn-lt"/>
            </a:endParaRPr>
          </a:p>
        </p:txBody>
      </p:sp>
      <p:sp>
        <p:nvSpPr>
          <p:cNvPr id="6" name="Rectangle 1"/>
          <p:cNvSpPr>
            <a:spLocks noChangeArrowheads="1"/>
          </p:cNvSpPr>
          <p:nvPr/>
        </p:nvSpPr>
        <p:spPr bwMode="auto">
          <a:xfrm>
            <a:off x="1097280" y="963822"/>
            <a:ext cx="10058400" cy="4730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nSpc>
                <a:spcPct val="115000"/>
              </a:lnSpc>
              <a:buSzPts val="1800"/>
              <a:buFont typeface="Arial" panose="020B0604020202020204" pitchFamily="34" charset="0"/>
              <a:buChar char="•"/>
            </a:pPr>
            <a:endParaRPr lang="en-US" sz="2400" dirty="0"/>
          </a:p>
          <a:p>
            <a:pPr marL="387350" lvl="0" indent="-285750">
              <a:lnSpc>
                <a:spcPct val="115000"/>
              </a:lnSpc>
              <a:buSzPts val="2000"/>
              <a:buFont typeface="Arial" panose="020B0604020202020204" pitchFamily="34" charset="0"/>
              <a:buChar char="•"/>
            </a:pPr>
            <a:r>
              <a:rPr lang="en-US" sz="2400" dirty="0">
                <a:latin typeface="Times New Roman"/>
                <a:ea typeface="Times New Roman"/>
                <a:cs typeface="Times New Roman"/>
                <a:sym typeface="Times New Roman"/>
              </a:rPr>
              <a:t>About Meta</a:t>
            </a:r>
          </a:p>
          <a:p>
            <a:pPr marL="387350" lvl="0" indent="-285750">
              <a:lnSpc>
                <a:spcPct val="115000"/>
              </a:lnSpc>
              <a:buSzPts val="2000"/>
              <a:buFont typeface="Arial" panose="020B0604020202020204" pitchFamily="34" charset="0"/>
              <a:buChar char="•"/>
            </a:pPr>
            <a:r>
              <a:rPr lang="en-US" sz="2400" dirty="0">
                <a:latin typeface="Times New Roman"/>
                <a:ea typeface="Times New Roman"/>
                <a:cs typeface="Times New Roman"/>
                <a:sym typeface="Times New Roman"/>
              </a:rPr>
              <a:t>Problem Statement</a:t>
            </a:r>
          </a:p>
          <a:p>
            <a:pPr marL="387350" lvl="0" indent="-285750">
              <a:lnSpc>
                <a:spcPct val="115000"/>
              </a:lnSpc>
              <a:buSzPts val="2000"/>
              <a:buFont typeface="Arial" panose="020B0604020202020204" pitchFamily="34" charset="0"/>
              <a:buChar char="•"/>
            </a:pPr>
            <a:r>
              <a:rPr lang="en-US" sz="2400" dirty="0">
                <a:latin typeface="Times New Roman"/>
                <a:ea typeface="Times New Roman"/>
                <a:cs typeface="Times New Roman"/>
                <a:sym typeface="Times New Roman"/>
              </a:rPr>
              <a:t>Data Overview</a:t>
            </a:r>
          </a:p>
          <a:p>
            <a:pPr marL="387350" lvl="0" indent="-285750">
              <a:lnSpc>
                <a:spcPct val="115000"/>
              </a:lnSpc>
              <a:buSzPts val="2000"/>
              <a:buFont typeface="Arial" panose="020B0604020202020204" pitchFamily="34" charset="0"/>
              <a:buChar char="•"/>
            </a:pPr>
            <a:r>
              <a:rPr lang="en-US" sz="2400" dirty="0">
                <a:latin typeface="Times New Roman"/>
                <a:ea typeface="Times New Roman"/>
                <a:cs typeface="Times New Roman"/>
                <a:sym typeface="Times New Roman"/>
              </a:rPr>
              <a:t>Approach</a:t>
            </a:r>
          </a:p>
          <a:p>
            <a:pPr marL="387350" lvl="0" indent="-285750">
              <a:lnSpc>
                <a:spcPct val="115000"/>
              </a:lnSpc>
              <a:buSzPts val="2000"/>
              <a:buFont typeface="Arial" panose="020B0604020202020204" pitchFamily="34" charset="0"/>
              <a:buChar char="•"/>
            </a:pPr>
            <a:r>
              <a:rPr lang="en-US" sz="2400" dirty="0">
                <a:latin typeface="Times New Roman"/>
                <a:ea typeface="Times New Roman"/>
                <a:cs typeface="Times New Roman"/>
                <a:sym typeface="Times New Roman"/>
              </a:rPr>
              <a:t>Engagement Analysis</a:t>
            </a:r>
          </a:p>
          <a:p>
            <a:pPr marL="387350" lvl="0" indent="-285750">
              <a:lnSpc>
                <a:spcPct val="115000"/>
              </a:lnSpc>
              <a:buSzPts val="2000"/>
              <a:buFont typeface="Arial" panose="020B0604020202020204" pitchFamily="34" charset="0"/>
              <a:buChar char="•"/>
            </a:pPr>
            <a:r>
              <a:rPr lang="en-US" sz="2400" dirty="0">
                <a:latin typeface="Times New Roman"/>
                <a:ea typeface="Times New Roman"/>
                <a:cs typeface="Times New Roman"/>
                <a:sym typeface="Times New Roman"/>
              </a:rPr>
              <a:t>Users Classification</a:t>
            </a:r>
          </a:p>
          <a:p>
            <a:pPr marL="387350" lvl="0" indent="-285750">
              <a:lnSpc>
                <a:spcPct val="115000"/>
              </a:lnSpc>
              <a:buSzPts val="2000"/>
              <a:buFont typeface="Arial" panose="020B0604020202020204" pitchFamily="34" charset="0"/>
              <a:buChar char="•"/>
            </a:pPr>
            <a:r>
              <a:rPr lang="en-US" sz="2400" dirty="0">
                <a:latin typeface="Times New Roman"/>
                <a:ea typeface="Times New Roman"/>
                <a:cs typeface="Times New Roman"/>
                <a:sym typeface="Times New Roman"/>
              </a:rPr>
              <a:t>Content Performance</a:t>
            </a:r>
          </a:p>
          <a:p>
            <a:pPr marL="387350" lvl="0" indent="-285750">
              <a:lnSpc>
                <a:spcPct val="115000"/>
              </a:lnSpc>
              <a:buSzPts val="2000"/>
              <a:buFont typeface="Arial" panose="020B0604020202020204" pitchFamily="34" charset="0"/>
              <a:buChar char="•"/>
            </a:pPr>
            <a:r>
              <a:rPr lang="en-US" sz="2400" dirty="0">
                <a:latin typeface="Times New Roman"/>
                <a:ea typeface="Times New Roman"/>
                <a:cs typeface="Times New Roman"/>
                <a:sym typeface="Times New Roman"/>
              </a:rPr>
              <a:t>Advertisement Strategy</a:t>
            </a:r>
          </a:p>
          <a:p>
            <a:pPr marL="387350" lvl="0" indent="-285750">
              <a:lnSpc>
                <a:spcPct val="115000"/>
              </a:lnSpc>
              <a:buSzPts val="2000"/>
              <a:buFont typeface="Arial" panose="020B0604020202020204" pitchFamily="34" charset="0"/>
              <a:buChar char="•"/>
            </a:pPr>
            <a:r>
              <a:rPr lang="en-US" sz="2400" dirty="0">
                <a:latin typeface="Times New Roman"/>
                <a:ea typeface="Times New Roman"/>
                <a:cs typeface="Times New Roman"/>
                <a:sym typeface="Times New Roman"/>
              </a:rPr>
              <a:t>Campaigns and Projections</a:t>
            </a:r>
          </a:p>
          <a:p>
            <a:pPr marL="387350" lvl="0" indent="-285750">
              <a:lnSpc>
                <a:spcPct val="115000"/>
              </a:lnSpc>
              <a:buSzPts val="2000"/>
              <a:buFont typeface="Arial" panose="020B0604020202020204" pitchFamily="34" charset="0"/>
              <a:buChar char="•"/>
            </a:pPr>
            <a:r>
              <a:rPr lang="en-US" sz="2400" dirty="0">
                <a:latin typeface="Times New Roman"/>
                <a:ea typeface="Times New Roman"/>
                <a:cs typeface="Times New Roman"/>
                <a:sym typeface="Times New Roman"/>
              </a:rPr>
              <a:t>Conclusion</a:t>
            </a:r>
          </a:p>
        </p:txBody>
      </p:sp>
    </p:spTree>
    <p:extLst>
      <p:ext uri="{BB962C8B-B14F-4D97-AF65-F5344CB8AC3E}">
        <p14:creationId xmlns:p14="http://schemas.microsoft.com/office/powerpoint/2010/main" val="1533543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097280" y="153253"/>
            <a:ext cx="10058400" cy="989747"/>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GB" sz="4000" b="1" dirty="0">
                <a:latin typeface="DM Serif Text"/>
                <a:ea typeface="DM Serif Text"/>
                <a:cs typeface="DM Serif Text"/>
                <a:sym typeface="DM Serif Text"/>
              </a:rPr>
              <a:t>About Meta</a:t>
            </a:r>
            <a:endParaRPr lang="en-IN" sz="4000" b="1" dirty="0">
              <a:latin typeface="+mn-lt"/>
            </a:endParaRPr>
          </a:p>
        </p:txBody>
      </p:sp>
      <p:sp>
        <p:nvSpPr>
          <p:cNvPr id="5" name="Google Shape;80;p3"/>
          <p:cNvSpPr txBox="1">
            <a:spLocks/>
          </p:cNvSpPr>
          <p:nvPr/>
        </p:nvSpPr>
        <p:spPr>
          <a:xfrm>
            <a:off x="2015430" y="1814997"/>
            <a:ext cx="8222100" cy="3298800"/>
          </a:xfrm>
          <a:prstGeom prst="rect">
            <a:avLst/>
          </a:prstGeom>
          <a:noFill/>
          <a:ln>
            <a:noFill/>
          </a:ln>
        </p:spPr>
        <p:txBody>
          <a:bodyPr spcFirstLastPara="1" wrap="square" lIns="91425" tIns="91425" rIns="91425" bIns="91425" anchor="t" anchorCtr="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00000"/>
              </a:lnSpc>
              <a:spcBef>
                <a:spcPts val="0"/>
              </a:spcBef>
              <a:spcAft>
                <a:spcPts val="0"/>
              </a:spcAft>
              <a:buSzPts val="1800"/>
              <a:buFont typeface="Calibri" panose="020F0502020204030204" pitchFamily="34" charset="0"/>
              <a:buNone/>
            </a:pPr>
            <a:r>
              <a:rPr lang="en-US" dirty="0">
                <a:latin typeface="Arial" panose="020B0604020202020204" pitchFamily="34" charset="0"/>
                <a:ea typeface="Times New Roman"/>
                <a:cs typeface="Arial" panose="020B0604020202020204" pitchFamily="34" charset="0"/>
                <a:sym typeface="Times New Roman"/>
              </a:rPr>
              <a:t>Meta, formerly known as Facebook, is a technology company founded by Mark Zuckerberg in 2004. It rebranded to Meta in October 2021 to emphasize its focus on building the "</a:t>
            </a:r>
            <a:r>
              <a:rPr lang="en-US" dirty="0" err="1">
                <a:latin typeface="Arial" panose="020B0604020202020204" pitchFamily="34" charset="0"/>
                <a:ea typeface="Times New Roman"/>
                <a:cs typeface="Arial" panose="020B0604020202020204" pitchFamily="34" charset="0"/>
                <a:sym typeface="Times New Roman"/>
              </a:rPr>
              <a:t>metaverse</a:t>
            </a:r>
            <a:r>
              <a:rPr lang="en-US" dirty="0">
                <a:latin typeface="Arial" panose="020B0604020202020204" pitchFamily="34" charset="0"/>
                <a:ea typeface="Times New Roman"/>
                <a:cs typeface="Arial" panose="020B0604020202020204" pitchFamily="34" charset="0"/>
                <a:sym typeface="Times New Roman"/>
              </a:rPr>
              <a:t>," a virtual reality space where users can interact in a shared, immersive environment. Meta's ecosystem includes social media platforms like Facebook, Instagram, and WhatsApp, as well as technologies for augmented and virtual reality, such as Oculus. The company's vision is to create a new digital frontier where people can connect, work, and play in virtual worlds that blend seamlessly with the physical world.</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5430" y="0"/>
            <a:ext cx="1898333" cy="1898333"/>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61130" y="110966"/>
            <a:ext cx="1676400" cy="1676400"/>
          </a:xfrm>
          <a:prstGeom prst="rect">
            <a:avLst/>
          </a:prstGeom>
        </p:spPr>
      </p:pic>
    </p:spTree>
    <p:extLst>
      <p:ext uri="{BB962C8B-B14F-4D97-AF65-F5344CB8AC3E}">
        <p14:creationId xmlns:p14="http://schemas.microsoft.com/office/powerpoint/2010/main" val="164445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80;p3"/>
          <p:cNvSpPr txBox="1">
            <a:spLocks/>
          </p:cNvSpPr>
          <p:nvPr/>
        </p:nvSpPr>
        <p:spPr>
          <a:xfrm>
            <a:off x="2367855" y="3559200"/>
            <a:ext cx="7700070" cy="3298800"/>
          </a:xfrm>
          <a:prstGeom prst="rect">
            <a:avLst/>
          </a:prstGeom>
          <a:noFill/>
          <a:ln>
            <a:noFill/>
          </a:ln>
        </p:spPr>
        <p:txBody>
          <a:bodyPr spcFirstLastPara="1" wrap="square" lIns="91425" tIns="91425" rIns="91425" bIns="91425" anchor="t" anchorCtr="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00000"/>
              </a:lnSpc>
              <a:spcBef>
                <a:spcPts val="0"/>
              </a:spcBef>
              <a:spcAft>
                <a:spcPts val="0"/>
              </a:spcAft>
              <a:buSzPts val="1800"/>
              <a:buNone/>
            </a:pPr>
            <a:r>
              <a:rPr lang="en-US" dirty="0"/>
              <a:t>You are hired as a data analyst at Meta and asked to collaborate with Marketing team. Marketing teams wants to leverage Instagram's user data to develop targeted marketing strategies that will increase user engagement, retention, and acquisition. Provide insights and recommendations to address the following objectives</a:t>
            </a:r>
            <a:endParaRPr lang="en-US" dirty="0">
              <a:latin typeface="Arial" panose="020B0604020202020204" pitchFamily="34" charset="0"/>
              <a:ea typeface="Times New Roman"/>
              <a:cs typeface="Arial" panose="020B0604020202020204" pitchFamily="34" charset="0"/>
              <a:sym typeface="Times New Roman"/>
            </a:endParaRPr>
          </a:p>
        </p:txBody>
      </p:sp>
      <p:sp>
        <p:nvSpPr>
          <p:cNvPr id="6" name="Google Shape;86;p4"/>
          <p:cNvSpPr txBox="1">
            <a:spLocks/>
          </p:cNvSpPr>
          <p:nvPr/>
        </p:nvSpPr>
        <p:spPr>
          <a:xfrm>
            <a:off x="0" y="2445711"/>
            <a:ext cx="12192000" cy="933600"/>
          </a:xfrm>
          <a:prstGeom prst="rect">
            <a:avLst/>
          </a:prstGeom>
          <a:noFill/>
          <a:ln>
            <a:noFill/>
          </a:ln>
        </p:spPr>
        <p:txBody>
          <a:bodyPr spcFirstLastPara="1" wrap="square" lIns="91425" tIns="91425" rIns="91425" bIns="91425" anchor="b" anchorCtr="0">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1371600" algn="ctr">
              <a:lnSpc>
                <a:spcPct val="100000"/>
              </a:lnSpc>
              <a:spcBef>
                <a:spcPts val="0"/>
              </a:spcBef>
              <a:buSzPts val="4800"/>
            </a:pPr>
            <a:r>
              <a:rPr lang="en-GB" sz="4000" dirty="0">
                <a:latin typeface="DM Serif Text"/>
                <a:ea typeface="DM Serif Text"/>
                <a:cs typeface="DM Serif Text"/>
                <a:sym typeface="DM Serif Text"/>
              </a:rPr>
              <a:t>Problem Statement</a:t>
            </a: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12716" b="26301"/>
          <a:stretch/>
        </p:blipFill>
        <p:spPr>
          <a:xfrm>
            <a:off x="3914773" y="0"/>
            <a:ext cx="4141197" cy="2724150"/>
          </a:xfrm>
          <a:prstGeom prst="rect">
            <a:avLst/>
          </a:prstGeom>
        </p:spPr>
      </p:pic>
    </p:spTree>
    <p:extLst>
      <p:ext uri="{BB962C8B-B14F-4D97-AF65-F5344CB8AC3E}">
        <p14:creationId xmlns:p14="http://schemas.microsoft.com/office/powerpoint/2010/main" val="858087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92;p5"/>
          <p:cNvSpPr txBox="1">
            <a:spLocks/>
          </p:cNvSpPr>
          <p:nvPr/>
        </p:nvSpPr>
        <p:spPr>
          <a:xfrm>
            <a:off x="2015430" y="142875"/>
            <a:ext cx="8222099" cy="771525"/>
          </a:xfrm>
          <a:prstGeom prst="rect">
            <a:avLst/>
          </a:prstGeom>
          <a:noFill/>
          <a:ln>
            <a:noFill/>
          </a:ln>
        </p:spPr>
        <p:txBody>
          <a:bodyPr spcFirstLastPara="1" wrap="square" lIns="91425" tIns="91425" rIns="91425" bIns="91425" anchor="b" anchorCtr="0">
            <a:normAutofit lnSpcReduction="100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1828800">
              <a:lnSpc>
                <a:spcPct val="100000"/>
              </a:lnSpc>
              <a:spcBef>
                <a:spcPts val="0"/>
              </a:spcBef>
              <a:buSzPts val="4800"/>
            </a:pPr>
            <a:r>
              <a:rPr lang="en-GB" sz="4000" b="1" dirty="0">
                <a:latin typeface="DM Serif Text"/>
                <a:ea typeface="DM Serif Text"/>
                <a:cs typeface="DM Serif Text"/>
                <a:sym typeface="DM Serif Text"/>
              </a:rPr>
              <a:t>Data Overview</a:t>
            </a:r>
          </a:p>
        </p:txBody>
      </p:sp>
      <p:sp>
        <p:nvSpPr>
          <p:cNvPr id="8" name="Google Shape;94;p5"/>
          <p:cNvSpPr txBox="1"/>
          <p:nvPr/>
        </p:nvSpPr>
        <p:spPr>
          <a:xfrm>
            <a:off x="458279" y="1200550"/>
            <a:ext cx="5668200" cy="4171500"/>
          </a:xfrm>
          <a:prstGeom prst="rect">
            <a:avLst/>
          </a:prstGeom>
          <a:noFill/>
          <a:ln>
            <a:noFill/>
          </a:ln>
        </p:spPr>
        <p:txBody>
          <a:bodyPr spcFirstLastPara="1" wrap="square" lIns="91425" tIns="91425" rIns="91425" bIns="91425" anchor="t" anchorCtr="0">
            <a:noAutofit/>
          </a:bodyPr>
          <a:lstStyle/>
          <a:p>
            <a:pPr marL="406400" marR="0" lvl="0" indent="-285750" algn="l" rtl="0">
              <a:lnSpc>
                <a:spcPct val="150000"/>
              </a:lnSpc>
              <a:spcBef>
                <a:spcPts val="0"/>
              </a:spcBef>
              <a:spcAft>
                <a:spcPts val="0"/>
              </a:spcAft>
              <a:buSzPts val="1700"/>
              <a:buFont typeface="Arial" panose="020B0604020202020204" pitchFamily="34" charset="0"/>
              <a:buChar char="•"/>
            </a:pPr>
            <a:r>
              <a:rPr lang="en-GB" sz="1700" b="0" i="0" u="none" strike="noStrike" cap="none" dirty="0">
                <a:latin typeface="Times New Roman"/>
                <a:ea typeface="Times New Roman"/>
                <a:cs typeface="Times New Roman"/>
                <a:sym typeface="Times New Roman"/>
              </a:rPr>
              <a:t>Total 7 Tables are present in the given dataset.</a:t>
            </a:r>
            <a:endParaRPr sz="1700" b="0" i="0" u="none" strike="noStrike" cap="none" dirty="0">
              <a:latin typeface="Times New Roman"/>
              <a:ea typeface="Times New Roman"/>
              <a:cs typeface="Times New Roman"/>
              <a:sym typeface="Times New Roman"/>
            </a:endParaRPr>
          </a:p>
          <a:p>
            <a:pPr marL="406400" marR="0" lvl="0" indent="-285750" algn="l" rtl="0">
              <a:lnSpc>
                <a:spcPct val="150000"/>
              </a:lnSpc>
              <a:spcBef>
                <a:spcPts val="0"/>
              </a:spcBef>
              <a:spcAft>
                <a:spcPts val="0"/>
              </a:spcAft>
              <a:buSzPts val="1700"/>
              <a:buFont typeface="Arial" panose="020B0604020202020204" pitchFamily="34" charset="0"/>
              <a:buChar char="•"/>
            </a:pPr>
            <a:r>
              <a:rPr lang="en-GB" sz="1700" b="0" i="0" u="none" strike="noStrike" cap="none" dirty="0">
                <a:latin typeface="Times New Roman"/>
                <a:ea typeface="Times New Roman"/>
                <a:cs typeface="Times New Roman"/>
                <a:sym typeface="Times New Roman"/>
              </a:rPr>
              <a:t>Total number users are 100.</a:t>
            </a:r>
            <a:endParaRPr sz="1700" b="0" i="0" u="none" strike="noStrike" cap="none" dirty="0">
              <a:latin typeface="Times New Roman"/>
              <a:ea typeface="Times New Roman"/>
              <a:cs typeface="Times New Roman"/>
              <a:sym typeface="Times New Roman"/>
            </a:endParaRPr>
          </a:p>
          <a:p>
            <a:pPr marL="406400" marR="0" lvl="0" indent="-285750" algn="l" rtl="0">
              <a:lnSpc>
                <a:spcPct val="150000"/>
              </a:lnSpc>
              <a:spcBef>
                <a:spcPts val="0"/>
              </a:spcBef>
              <a:spcAft>
                <a:spcPts val="0"/>
              </a:spcAft>
              <a:buSzPts val="1700"/>
              <a:buFont typeface="Arial" panose="020B0604020202020204" pitchFamily="34" charset="0"/>
              <a:buChar char="•"/>
            </a:pPr>
            <a:r>
              <a:rPr lang="en-GB" sz="1700" b="0" i="0" u="none" strike="noStrike" cap="none" dirty="0">
                <a:latin typeface="Times New Roman"/>
                <a:ea typeface="Times New Roman"/>
                <a:cs typeface="Times New Roman"/>
                <a:sym typeface="Times New Roman"/>
              </a:rPr>
              <a:t>Total number of posts made so far is 257.</a:t>
            </a:r>
            <a:endParaRPr sz="1700" b="0" i="0" u="none" strike="noStrike" cap="none" dirty="0">
              <a:latin typeface="Times New Roman"/>
              <a:ea typeface="Times New Roman"/>
              <a:cs typeface="Times New Roman"/>
              <a:sym typeface="Times New Roman"/>
            </a:endParaRPr>
          </a:p>
          <a:p>
            <a:pPr marL="406400" marR="0" lvl="0" indent="-285750" algn="l" rtl="0">
              <a:lnSpc>
                <a:spcPct val="150000"/>
              </a:lnSpc>
              <a:spcBef>
                <a:spcPts val="0"/>
              </a:spcBef>
              <a:spcAft>
                <a:spcPts val="0"/>
              </a:spcAft>
              <a:buSzPts val="1700"/>
              <a:buFont typeface="Arial" panose="020B0604020202020204" pitchFamily="34" charset="0"/>
              <a:buChar char="•"/>
            </a:pPr>
            <a:r>
              <a:rPr lang="en-GB" sz="1700" b="0" i="0" u="none" strike="noStrike" cap="none" dirty="0">
                <a:latin typeface="Times New Roman"/>
                <a:ea typeface="Times New Roman"/>
                <a:cs typeface="Times New Roman"/>
                <a:sym typeface="Times New Roman"/>
              </a:rPr>
              <a:t>Total number of likes posted by the users on posts is 8782.</a:t>
            </a:r>
            <a:endParaRPr sz="1700" b="0" i="0" u="none" strike="noStrike" cap="none" dirty="0">
              <a:latin typeface="Times New Roman"/>
              <a:ea typeface="Times New Roman"/>
              <a:cs typeface="Times New Roman"/>
              <a:sym typeface="Times New Roman"/>
            </a:endParaRPr>
          </a:p>
          <a:p>
            <a:pPr marL="406400" marR="0" lvl="0" indent="-285750" algn="l" rtl="0">
              <a:lnSpc>
                <a:spcPct val="150000"/>
              </a:lnSpc>
              <a:spcBef>
                <a:spcPts val="0"/>
              </a:spcBef>
              <a:spcAft>
                <a:spcPts val="0"/>
              </a:spcAft>
              <a:buSzPts val="1700"/>
              <a:buFont typeface="Arial" panose="020B0604020202020204" pitchFamily="34" charset="0"/>
              <a:buChar char="•"/>
            </a:pPr>
            <a:r>
              <a:rPr lang="en-GB" sz="1700" b="0" i="0" u="none" strike="noStrike" cap="none" dirty="0">
                <a:latin typeface="Times New Roman"/>
                <a:ea typeface="Times New Roman"/>
                <a:cs typeface="Times New Roman"/>
                <a:sym typeface="Times New Roman"/>
              </a:rPr>
              <a:t>Total number of comments on all posts are 7488.</a:t>
            </a:r>
            <a:endParaRPr sz="1700" b="0" i="0" u="none" strike="noStrike" cap="none" dirty="0">
              <a:latin typeface="Times New Roman"/>
              <a:ea typeface="Times New Roman"/>
              <a:cs typeface="Times New Roman"/>
              <a:sym typeface="Times New Roman"/>
            </a:endParaRPr>
          </a:p>
          <a:p>
            <a:pPr marL="406400" marR="0" lvl="0" indent="-285750" algn="l" rtl="0">
              <a:lnSpc>
                <a:spcPct val="150000"/>
              </a:lnSpc>
              <a:spcBef>
                <a:spcPts val="0"/>
              </a:spcBef>
              <a:spcAft>
                <a:spcPts val="0"/>
              </a:spcAft>
              <a:buSzPts val="1700"/>
              <a:buFont typeface="Arial" panose="020B0604020202020204" pitchFamily="34" charset="0"/>
              <a:buChar char="•"/>
            </a:pPr>
            <a:r>
              <a:rPr lang="en-GB" sz="1700" b="0" i="0" u="none" strike="noStrike" cap="none" dirty="0">
                <a:latin typeface="Times New Roman"/>
                <a:ea typeface="Times New Roman"/>
                <a:cs typeface="Times New Roman"/>
                <a:sym typeface="Times New Roman"/>
              </a:rPr>
              <a:t>Total number of engagement is calculated by adding total likes and total comments by an user.</a:t>
            </a:r>
            <a:endParaRPr sz="1700" b="0" i="0" u="none" strike="noStrike" cap="none" dirty="0">
              <a:latin typeface="Times New Roman"/>
              <a:ea typeface="Times New Roman"/>
              <a:cs typeface="Times New Roman"/>
              <a:sym typeface="Times New Roman"/>
            </a:endParaRPr>
          </a:p>
          <a:p>
            <a:pPr marL="406400" marR="0" lvl="0" indent="-285750" algn="l" rtl="0">
              <a:lnSpc>
                <a:spcPct val="150000"/>
              </a:lnSpc>
              <a:spcBef>
                <a:spcPts val="0"/>
              </a:spcBef>
              <a:spcAft>
                <a:spcPts val="0"/>
              </a:spcAft>
              <a:buSzPts val="1700"/>
              <a:buFont typeface="Arial" panose="020B0604020202020204" pitchFamily="34" charset="0"/>
              <a:buChar char="•"/>
            </a:pPr>
            <a:r>
              <a:rPr lang="en-GB" sz="1700" b="0" i="0" u="none" strike="noStrike" cap="none" dirty="0">
                <a:latin typeface="Times New Roman"/>
                <a:ea typeface="Times New Roman"/>
                <a:cs typeface="Times New Roman"/>
                <a:sym typeface="Times New Roman"/>
              </a:rPr>
              <a:t>Engagement rate is calculated by dividing total engagements by number of posts.</a:t>
            </a:r>
            <a:endParaRPr sz="1700" b="0" i="0" u="none" strike="noStrike" cap="none" dirty="0">
              <a:latin typeface="Times New Roman"/>
              <a:ea typeface="Times New Roman"/>
              <a:cs typeface="Times New Roman"/>
              <a:sym typeface="Times New Roman"/>
            </a:endParaRPr>
          </a:p>
        </p:txBody>
      </p:sp>
      <p:pic>
        <p:nvPicPr>
          <p:cNvPr id="9" name="Google Shape;93;p5"/>
          <p:cNvPicPr preferRelativeResize="0"/>
          <p:nvPr/>
        </p:nvPicPr>
        <p:blipFill rotWithShape="1">
          <a:blip r:embed="rId2">
            <a:alphaModFix/>
          </a:blip>
          <a:srcRect/>
          <a:stretch/>
        </p:blipFill>
        <p:spPr>
          <a:xfrm>
            <a:off x="6877051" y="1771650"/>
            <a:ext cx="5048250" cy="4457700"/>
          </a:xfrm>
          <a:prstGeom prst="rect">
            <a:avLst/>
          </a:prstGeom>
          <a:noFill/>
          <a:ln>
            <a:noFill/>
          </a:ln>
        </p:spPr>
      </p:pic>
      <p:sp>
        <p:nvSpPr>
          <p:cNvPr id="4" name="Rectangle 3"/>
          <p:cNvSpPr/>
          <p:nvPr/>
        </p:nvSpPr>
        <p:spPr>
          <a:xfrm>
            <a:off x="7715251" y="1200550"/>
            <a:ext cx="3867149" cy="923330"/>
          </a:xfrm>
          <a:prstGeom prst="rect">
            <a:avLst/>
          </a:prstGeom>
        </p:spPr>
        <p:txBody>
          <a:bodyPr wrap="square">
            <a:spAutoFit/>
          </a:bodyPr>
          <a:lstStyle/>
          <a:p>
            <a:pPr algn="ctr"/>
            <a:r>
              <a:rPr lang="en-IN" dirty="0">
                <a:solidFill>
                  <a:srgbClr val="000000"/>
                </a:solidFill>
                <a:latin typeface="Arial" panose="020B0604020202020204" pitchFamily="34" charset="0"/>
              </a:rPr>
              <a:t>Database schema</a:t>
            </a:r>
            <a:endParaRPr lang="en-IN" dirty="0"/>
          </a:p>
          <a:p>
            <a:br>
              <a:rPr lang="en-IN" dirty="0"/>
            </a:br>
            <a:endParaRPr lang="en-IN" dirty="0"/>
          </a:p>
        </p:txBody>
      </p:sp>
    </p:spTree>
    <p:extLst>
      <p:ext uri="{BB962C8B-B14F-4D97-AF65-F5344CB8AC3E}">
        <p14:creationId xmlns:p14="http://schemas.microsoft.com/office/powerpoint/2010/main" val="3319854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1237396"/>
          </a:xfrm>
        </p:spPr>
        <p:txBody>
          <a:bodyPr/>
          <a:lstStyle/>
          <a:p>
            <a:pPr algn="ctr"/>
            <a:r>
              <a:rPr lang="en-IN" b="1" dirty="0"/>
              <a:t>Approach</a:t>
            </a:r>
          </a:p>
        </p:txBody>
      </p:sp>
      <p:sp>
        <p:nvSpPr>
          <p:cNvPr id="4" name="Google Shape;100;p6"/>
          <p:cNvSpPr txBox="1"/>
          <p:nvPr/>
        </p:nvSpPr>
        <p:spPr>
          <a:xfrm>
            <a:off x="1097280" y="1981349"/>
            <a:ext cx="10058400" cy="4200375"/>
          </a:xfrm>
          <a:prstGeom prst="rect">
            <a:avLst/>
          </a:prstGeom>
          <a:noFill/>
          <a:ln>
            <a:noFill/>
          </a:ln>
        </p:spPr>
        <p:txBody>
          <a:bodyPr spcFirstLastPara="1" wrap="square" lIns="91425" tIns="91425" rIns="91425" bIns="91425" anchor="t" anchorCtr="0">
            <a:noAutofit/>
          </a:bodyPr>
          <a:lstStyle/>
          <a:p>
            <a:pPr marL="419100" lvl="0" indent="-285750" algn="l" rtl="0">
              <a:lnSpc>
                <a:spcPct val="115000"/>
              </a:lnSpc>
              <a:spcBef>
                <a:spcPts val="0"/>
              </a:spcBef>
              <a:spcAft>
                <a:spcPts val="0"/>
              </a:spcAft>
              <a:buSzPts val="1500"/>
              <a:buFont typeface="Arial" panose="020B0604020202020204" pitchFamily="34" charset="0"/>
              <a:buChar char="•"/>
            </a:pPr>
            <a:r>
              <a:rPr lang="en-GB" b="1" dirty="0">
                <a:latin typeface="Times New Roman"/>
                <a:ea typeface="Times New Roman"/>
                <a:cs typeface="Times New Roman"/>
                <a:sym typeface="Times New Roman"/>
              </a:rPr>
              <a:t>Understanding Statistics:</a:t>
            </a:r>
            <a:r>
              <a:rPr lang="en-GB" sz="1600" dirty="0">
                <a:latin typeface="Times New Roman"/>
                <a:ea typeface="Times New Roman"/>
                <a:cs typeface="Times New Roman"/>
                <a:sym typeface="Times New Roman"/>
              </a:rPr>
              <a:t> Calculated basic statistics like total number of users and respective posts posted, likes, comments achieved</a:t>
            </a:r>
            <a:endParaRPr sz="1600" dirty="0">
              <a:latin typeface="Times New Roman"/>
              <a:ea typeface="Times New Roman"/>
              <a:cs typeface="Times New Roman"/>
              <a:sym typeface="Times New Roman"/>
            </a:endParaRPr>
          </a:p>
          <a:p>
            <a:pPr marL="412750" marR="0" lvl="0" indent="-285750" algn="l" rtl="0">
              <a:lnSpc>
                <a:spcPct val="115000"/>
              </a:lnSpc>
              <a:spcBef>
                <a:spcPts val="1000"/>
              </a:spcBef>
              <a:spcAft>
                <a:spcPts val="0"/>
              </a:spcAft>
              <a:buSzPts val="1600"/>
              <a:buFont typeface="Arial" panose="020B0604020202020204" pitchFamily="34" charset="0"/>
              <a:buChar char="•"/>
            </a:pPr>
            <a:r>
              <a:rPr lang="en-GB" b="1" dirty="0">
                <a:latin typeface="Times New Roman"/>
                <a:ea typeface="Times New Roman"/>
                <a:cs typeface="Times New Roman"/>
                <a:sym typeface="Times New Roman"/>
              </a:rPr>
              <a:t>Data Cleaning and Validation: </a:t>
            </a:r>
            <a:r>
              <a:rPr lang="en-GB" sz="1600" dirty="0">
                <a:latin typeface="Times New Roman"/>
                <a:ea typeface="Times New Roman"/>
                <a:cs typeface="Times New Roman"/>
                <a:sym typeface="Times New Roman"/>
              </a:rPr>
              <a:t>Checked and removed duplicates in the data sets also treated null values.</a:t>
            </a:r>
            <a:endParaRPr sz="1600" dirty="0">
              <a:latin typeface="Times New Roman"/>
              <a:ea typeface="Times New Roman"/>
              <a:cs typeface="Times New Roman"/>
              <a:sym typeface="Times New Roman"/>
            </a:endParaRPr>
          </a:p>
          <a:p>
            <a:pPr marL="406400" marR="0" lvl="0" indent="-285750" algn="l" rtl="0">
              <a:lnSpc>
                <a:spcPct val="115000"/>
              </a:lnSpc>
              <a:spcBef>
                <a:spcPts val="0"/>
              </a:spcBef>
              <a:spcAft>
                <a:spcPts val="0"/>
              </a:spcAft>
              <a:buSzPts val="1700"/>
              <a:buFont typeface="Arial" panose="020B0604020202020204" pitchFamily="34" charset="0"/>
              <a:buChar char="•"/>
            </a:pPr>
            <a:r>
              <a:rPr lang="en-GB" b="1" i="0" u="none" strike="noStrike" cap="none" dirty="0">
                <a:latin typeface="Times New Roman"/>
                <a:ea typeface="Times New Roman"/>
                <a:cs typeface="Times New Roman"/>
                <a:sym typeface="Times New Roman"/>
              </a:rPr>
              <a:t>Analysis</a:t>
            </a:r>
            <a:r>
              <a:rPr lang="en-GB" b="1" dirty="0">
                <a:latin typeface="Times New Roman"/>
                <a:ea typeface="Times New Roman"/>
                <a:cs typeface="Times New Roman"/>
                <a:sym typeface="Times New Roman"/>
              </a:rPr>
              <a:t>: </a:t>
            </a:r>
            <a:r>
              <a:rPr lang="en-GB" sz="1600" dirty="0">
                <a:latin typeface="Times New Roman"/>
                <a:ea typeface="Times New Roman"/>
                <a:cs typeface="Times New Roman"/>
                <a:sym typeface="Times New Roman"/>
              </a:rPr>
              <a:t>Utilized </a:t>
            </a:r>
            <a:r>
              <a:rPr lang="en-GB" sz="1600" dirty="0" err="1">
                <a:latin typeface="Times New Roman"/>
                <a:ea typeface="Times New Roman"/>
                <a:cs typeface="Times New Roman"/>
                <a:sym typeface="Times New Roman"/>
              </a:rPr>
              <a:t>sql</a:t>
            </a:r>
            <a:r>
              <a:rPr lang="en-GB" sz="1600" dirty="0">
                <a:latin typeface="Times New Roman"/>
                <a:ea typeface="Times New Roman"/>
                <a:cs typeface="Times New Roman"/>
                <a:sym typeface="Times New Roman"/>
              </a:rPr>
              <a:t> techniques such as Common Table Expressions (CTE), Aggregate Functions:(AVG, COUNT,ROUND, </a:t>
            </a:r>
            <a:r>
              <a:rPr lang="en-GB" sz="1600" dirty="0" err="1">
                <a:latin typeface="Times New Roman"/>
                <a:ea typeface="Times New Roman"/>
                <a:cs typeface="Times New Roman"/>
                <a:sym typeface="Times New Roman"/>
              </a:rPr>
              <a:t>etc</a:t>
            </a:r>
            <a:r>
              <a:rPr lang="en-GB" sz="1600" dirty="0">
                <a:latin typeface="Times New Roman"/>
                <a:ea typeface="Times New Roman"/>
                <a:cs typeface="Times New Roman"/>
                <a:sym typeface="Times New Roman"/>
              </a:rPr>
              <a:t>), Subqueries, Group By clause, </a:t>
            </a:r>
            <a:r>
              <a:rPr lang="en-GB" sz="1600" dirty="0" err="1">
                <a:latin typeface="Times New Roman"/>
                <a:ea typeface="Times New Roman"/>
                <a:cs typeface="Times New Roman"/>
                <a:sym typeface="Times New Roman"/>
              </a:rPr>
              <a:t>Rank,Window</a:t>
            </a:r>
            <a:r>
              <a:rPr lang="en-GB" sz="1600" dirty="0">
                <a:latin typeface="Times New Roman"/>
                <a:ea typeface="Times New Roman"/>
                <a:cs typeface="Times New Roman"/>
                <a:sym typeface="Times New Roman"/>
              </a:rPr>
              <a:t> functions.</a:t>
            </a:r>
            <a:endParaRPr sz="1600" dirty="0">
              <a:latin typeface="Times New Roman"/>
              <a:ea typeface="Times New Roman"/>
              <a:cs typeface="Times New Roman"/>
              <a:sym typeface="Times New Roman"/>
            </a:endParaRPr>
          </a:p>
          <a:p>
            <a:pPr marL="412750" lvl="0" indent="-285750" algn="l" rtl="0">
              <a:lnSpc>
                <a:spcPct val="115000"/>
              </a:lnSpc>
              <a:spcBef>
                <a:spcPts val="0"/>
              </a:spcBef>
              <a:spcAft>
                <a:spcPts val="0"/>
              </a:spcAft>
              <a:buSzPts val="1600"/>
              <a:buFont typeface="Arial" panose="020B0604020202020204" pitchFamily="34" charset="0"/>
              <a:buChar char="•"/>
            </a:pPr>
            <a:r>
              <a:rPr lang="en-GB" b="1" dirty="0">
                <a:latin typeface="Times New Roman"/>
                <a:ea typeface="Times New Roman"/>
                <a:cs typeface="Times New Roman"/>
                <a:sym typeface="Times New Roman"/>
              </a:rPr>
              <a:t>Data Visualization</a:t>
            </a:r>
            <a:r>
              <a:rPr lang="en-GB" sz="1600" b="1" dirty="0">
                <a:latin typeface="Times New Roman"/>
                <a:ea typeface="Times New Roman"/>
                <a:cs typeface="Times New Roman"/>
                <a:sym typeface="Times New Roman"/>
              </a:rPr>
              <a:t>:</a:t>
            </a:r>
            <a:r>
              <a:rPr lang="en-GB" sz="1600" dirty="0">
                <a:latin typeface="Times New Roman"/>
                <a:ea typeface="Times New Roman"/>
                <a:cs typeface="Times New Roman"/>
                <a:sym typeface="Times New Roman"/>
              </a:rPr>
              <a:t> Visualized key metrics such as total posts, likes, and comments to provide a clear representation of user activity levels. Created charts and graphs to rank users based on engagement rates and to highlight the most influential hashtags.</a:t>
            </a:r>
            <a:endParaRPr dirty="0">
              <a:latin typeface="Times New Roman"/>
              <a:ea typeface="Times New Roman"/>
              <a:cs typeface="Times New Roman"/>
              <a:sym typeface="Times New Roman"/>
            </a:endParaRPr>
          </a:p>
          <a:p>
            <a:pPr marL="406400" marR="0" lvl="0" indent="-285750" algn="l" rtl="0">
              <a:lnSpc>
                <a:spcPct val="115000"/>
              </a:lnSpc>
              <a:spcBef>
                <a:spcPts val="1000"/>
              </a:spcBef>
              <a:spcAft>
                <a:spcPts val="0"/>
              </a:spcAft>
              <a:buSzPts val="1700"/>
              <a:buFont typeface="Arial" panose="020B0604020202020204" pitchFamily="34" charset="0"/>
              <a:buChar char="•"/>
            </a:pPr>
            <a:r>
              <a:rPr lang="en-GB" b="1" i="0" u="none" strike="noStrike" cap="none" dirty="0">
                <a:latin typeface="Times New Roman"/>
                <a:ea typeface="Times New Roman"/>
                <a:cs typeface="Times New Roman"/>
                <a:sym typeface="Times New Roman"/>
              </a:rPr>
              <a:t>Strategy Making</a:t>
            </a:r>
            <a:r>
              <a:rPr lang="en-GB" b="1" dirty="0">
                <a:latin typeface="Times New Roman"/>
                <a:ea typeface="Times New Roman"/>
                <a:cs typeface="Times New Roman"/>
                <a:sym typeface="Times New Roman"/>
              </a:rPr>
              <a:t>: </a:t>
            </a:r>
            <a:r>
              <a:rPr lang="en-GB" dirty="0">
                <a:latin typeface="Times New Roman"/>
                <a:ea typeface="Times New Roman"/>
                <a:cs typeface="Times New Roman"/>
                <a:sym typeface="Times New Roman"/>
              </a:rPr>
              <a:t>Prepared plans and strategies</a:t>
            </a:r>
            <a:r>
              <a:rPr lang="en-GB" b="0" i="0" u="none" strike="noStrike" cap="none" dirty="0">
                <a:latin typeface="Times New Roman"/>
                <a:ea typeface="Times New Roman"/>
                <a:cs typeface="Times New Roman"/>
                <a:sym typeface="Times New Roman"/>
              </a:rPr>
              <a:t> for increasing user retention and increasing engagement activities.</a:t>
            </a:r>
            <a:endParaRPr b="0" i="0" u="none" strike="noStrike" cap="none" dirty="0">
              <a:latin typeface="Times New Roman"/>
              <a:ea typeface="Times New Roman"/>
              <a:cs typeface="Times New Roman"/>
              <a:sym typeface="Times New Roman"/>
            </a:endParaRPr>
          </a:p>
          <a:p>
            <a:pPr marL="406400" marR="0" lvl="0" indent="-285750" algn="l" rtl="0">
              <a:lnSpc>
                <a:spcPct val="115000"/>
              </a:lnSpc>
              <a:spcBef>
                <a:spcPts val="0"/>
              </a:spcBef>
              <a:spcAft>
                <a:spcPts val="0"/>
              </a:spcAft>
              <a:buSzPts val="1700"/>
              <a:buFont typeface="Arial" panose="020B0604020202020204" pitchFamily="34" charset="0"/>
              <a:buChar char="•"/>
            </a:pPr>
            <a:r>
              <a:rPr lang="en-GB" b="1" i="0" u="none" strike="noStrike" cap="none" dirty="0">
                <a:latin typeface="Times New Roman"/>
                <a:ea typeface="Times New Roman"/>
                <a:cs typeface="Times New Roman"/>
                <a:sym typeface="Times New Roman"/>
              </a:rPr>
              <a:t>Implementation-</a:t>
            </a:r>
            <a:r>
              <a:rPr lang="en-GB" b="0" i="0" u="none" strike="noStrike" cap="none" dirty="0">
                <a:latin typeface="Times New Roman"/>
                <a:ea typeface="Times New Roman"/>
                <a:cs typeface="Times New Roman"/>
                <a:sym typeface="Times New Roman"/>
              </a:rPr>
              <a:t>Implementation of the plans and strategy </a:t>
            </a:r>
            <a:r>
              <a:rPr lang="en-GB" dirty="0">
                <a:latin typeface="Times New Roman"/>
                <a:ea typeface="Times New Roman"/>
                <a:cs typeface="Times New Roman"/>
                <a:sym typeface="Times New Roman"/>
              </a:rPr>
              <a:t>are also discussed for optimised and better results.</a:t>
            </a:r>
            <a:endParaRPr b="0" i="0" u="none" strike="noStrike" cap="none"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3125847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6EC8FA00-6C82-2353-5E34-C49B05580821}"/>
              </a:ext>
            </a:extLst>
          </p:cNvPr>
          <p:cNvSpPr txBox="1"/>
          <p:nvPr/>
        </p:nvSpPr>
        <p:spPr>
          <a:xfrm>
            <a:off x="101600" y="260355"/>
            <a:ext cx="12090400" cy="693267"/>
          </a:xfrm>
          <a:prstGeom prst="rect">
            <a:avLst/>
          </a:prstGeom>
        </p:spPr>
        <p:txBody>
          <a:bodyPr wrap="square" lIns="0" tIns="0" rIns="0" bIns="0" rtlCol="0" anchor="t">
            <a:spAutoFit/>
          </a:bodyPr>
          <a:lstStyle/>
          <a:p>
            <a:pPr algn="ctr">
              <a:lnSpc>
                <a:spcPts val="5760"/>
              </a:lnSpc>
              <a:spcBef>
                <a:spcPct val="0"/>
              </a:spcBef>
            </a:pPr>
            <a:r>
              <a:rPr lang="en-US" sz="4000" b="1" spc="-169" dirty="0">
                <a:cs typeface="Aharoni" panose="02010803020104030203" pitchFamily="2" charset="-79"/>
                <a:sym typeface="Lilita One"/>
              </a:rPr>
              <a:t>User Engagement Classification</a:t>
            </a:r>
          </a:p>
        </p:txBody>
      </p:sp>
      <p:graphicFrame>
        <p:nvGraphicFramePr>
          <p:cNvPr id="4" name="Chart 3">
            <a:extLst>
              <a:ext uri="{FF2B5EF4-FFF2-40B4-BE49-F238E27FC236}">
                <a16:creationId xmlns:a16="http://schemas.microsoft.com/office/drawing/2014/main" id="{7D41F7A0-D94F-CEDC-CB09-28AAF25CE3E2}"/>
              </a:ext>
            </a:extLst>
          </p:cNvPr>
          <p:cNvGraphicFramePr>
            <a:graphicFrameLocks/>
          </p:cNvGraphicFramePr>
          <p:nvPr>
            <p:extLst>
              <p:ext uri="{D42A27DB-BD31-4B8C-83A1-F6EECF244321}">
                <p14:modId xmlns:p14="http://schemas.microsoft.com/office/powerpoint/2010/main" val="4280747085"/>
              </p:ext>
            </p:extLst>
          </p:nvPr>
        </p:nvGraphicFramePr>
        <p:xfrm>
          <a:off x="839694" y="1435725"/>
          <a:ext cx="5336988" cy="4014816"/>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22">
            <a:extLst>
              <a:ext uri="{FF2B5EF4-FFF2-40B4-BE49-F238E27FC236}">
                <a16:creationId xmlns:a16="http://schemas.microsoft.com/office/drawing/2014/main" id="{7ACD422E-7BD4-D64B-731D-D0442DD413D5}"/>
              </a:ext>
            </a:extLst>
          </p:cNvPr>
          <p:cNvSpPr txBox="1"/>
          <p:nvPr/>
        </p:nvSpPr>
        <p:spPr>
          <a:xfrm>
            <a:off x="6666723" y="1631396"/>
            <a:ext cx="5525277" cy="2155077"/>
          </a:xfrm>
          <a:prstGeom prst="rect">
            <a:avLst/>
          </a:prstGeom>
        </p:spPr>
        <p:txBody>
          <a:bodyPr wrap="square" lIns="0" tIns="0" rIns="0" bIns="0" rtlCol="0" anchor="t">
            <a:spAutoFit/>
          </a:bodyPr>
          <a:lstStyle/>
          <a:p>
            <a:pPr marL="423338" indent="-342900">
              <a:lnSpc>
                <a:spcPct val="150000"/>
              </a:lnSpc>
              <a:buClr>
                <a:schemeClr val="tx1"/>
              </a:buClr>
              <a:buSzPts val="1700"/>
              <a:buFont typeface="Arial" panose="020B0604020202020204" pitchFamily="34" charset="0"/>
              <a:buChar char="•"/>
            </a:pPr>
            <a:r>
              <a:rPr lang="en-US" sz="1867" dirty="0">
                <a:latin typeface="Times New Roman"/>
                <a:cs typeface="Times New Roman"/>
                <a:sym typeface="Lilita One"/>
              </a:rPr>
              <a:t>Out of </a:t>
            </a:r>
            <a:r>
              <a:rPr lang="en-US" sz="1867" b="1" dirty="0">
                <a:latin typeface="Times New Roman"/>
                <a:cs typeface="Times New Roman"/>
                <a:sym typeface="Lilita One"/>
              </a:rPr>
              <a:t>100</a:t>
            </a:r>
            <a:r>
              <a:rPr lang="en-US" sz="1867" dirty="0">
                <a:latin typeface="Times New Roman"/>
                <a:cs typeface="Times New Roman"/>
                <a:sym typeface="Lilita One"/>
              </a:rPr>
              <a:t> users there are only </a:t>
            </a:r>
            <a:r>
              <a:rPr lang="en-US" sz="1867" b="1" dirty="0">
                <a:latin typeface="Times New Roman"/>
                <a:cs typeface="Times New Roman"/>
                <a:sym typeface="Lilita One"/>
              </a:rPr>
              <a:t>30% </a:t>
            </a:r>
            <a:r>
              <a:rPr lang="en-US" sz="1867" dirty="0">
                <a:latin typeface="Times New Roman"/>
                <a:cs typeface="Times New Roman"/>
                <a:sym typeface="Lilita One"/>
              </a:rPr>
              <a:t>of </a:t>
            </a:r>
            <a:r>
              <a:rPr lang="en-US" sz="1867" b="1" dirty="0">
                <a:latin typeface="Times New Roman"/>
                <a:cs typeface="Times New Roman"/>
                <a:sym typeface="Lilita One"/>
              </a:rPr>
              <a:t>Active Users</a:t>
            </a:r>
            <a:r>
              <a:rPr lang="en-US" sz="1867" dirty="0">
                <a:latin typeface="Times New Roman"/>
                <a:cs typeface="Times New Roman"/>
                <a:sym typeface="Lilita One"/>
              </a:rPr>
              <a:t>.</a:t>
            </a:r>
          </a:p>
          <a:p>
            <a:pPr marL="423338" indent="-342900">
              <a:lnSpc>
                <a:spcPct val="150000"/>
              </a:lnSpc>
              <a:buClr>
                <a:schemeClr val="tx1"/>
              </a:buClr>
              <a:buSzPts val="1700"/>
              <a:buFont typeface="Arial" panose="020B0604020202020204" pitchFamily="34" charset="0"/>
              <a:buChar char="•"/>
            </a:pPr>
            <a:r>
              <a:rPr lang="en-US" sz="1867" b="1" dirty="0">
                <a:latin typeface="Times New Roman"/>
                <a:cs typeface="Times New Roman"/>
                <a:sym typeface="Lilita One"/>
              </a:rPr>
              <a:t>34 % </a:t>
            </a:r>
            <a:r>
              <a:rPr lang="en-US" sz="1867" dirty="0">
                <a:latin typeface="Times New Roman"/>
                <a:cs typeface="Times New Roman"/>
                <a:sym typeface="Lilita One"/>
              </a:rPr>
              <a:t>of users are </a:t>
            </a:r>
            <a:r>
              <a:rPr lang="en-US" sz="1867" b="1" dirty="0">
                <a:latin typeface="Times New Roman"/>
                <a:cs typeface="Times New Roman"/>
                <a:sym typeface="Lilita One"/>
              </a:rPr>
              <a:t>Moderate Active Users</a:t>
            </a:r>
            <a:r>
              <a:rPr lang="en-US" sz="1867" dirty="0">
                <a:latin typeface="Times New Roman"/>
                <a:cs typeface="Times New Roman"/>
                <a:sym typeface="Lilita One"/>
              </a:rPr>
              <a:t>.</a:t>
            </a:r>
          </a:p>
          <a:p>
            <a:pPr marL="423338" indent="-342900">
              <a:lnSpc>
                <a:spcPct val="150000"/>
              </a:lnSpc>
              <a:buClr>
                <a:schemeClr val="tx1"/>
              </a:buClr>
              <a:buSzPts val="1700"/>
              <a:buFont typeface="Arial" panose="020B0604020202020204" pitchFamily="34" charset="0"/>
              <a:buChar char="•"/>
            </a:pPr>
            <a:r>
              <a:rPr lang="en-US" sz="1867" b="1" dirty="0">
                <a:latin typeface="Times New Roman"/>
                <a:cs typeface="Times New Roman"/>
                <a:sym typeface="Lilita One"/>
              </a:rPr>
              <a:t>Inactive Users </a:t>
            </a:r>
            <a:r>
              <a:rPr lang="en-US" sz="1867" dirty="0">
                <a:latin typeface="Times New Roman"/>
                <a:cs typeface="Times New Roman"/>
                <a:sym typeface="Lilita One"/>
              </a:rPr>
              <a:t>are those users who have very low engagement rate and they are </a:t>
            </a:r>
            <a:r>
              <a:rPr lang="en-US" sz="1867" b="1" dirty="0">
                <a:latin typeface="Times New Roman"/>
                <a:cs typeface="Times New Roman"/>
                <a:sym typeface="Lilita One"/>
              </a:rPr>
              <a:t>36 %. </a:t>
            </a:r>
          </a:p>
        </p:txBody>
      </p:sp>
    </p:spTree>
    <p:extLst>
      <p:ext uri="{BB962C8B-B14F-4D97-AF65-F5344CB8AC3E}">
        <p14:creationId xmlns:p14="http://schemas.microsoft.com/office/powerpoint/2010/main" val="2061153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FDF8103A-F04B-7777-7605-57A7DF669B99}"/>
              </a:ext>
            </a:extLst>
          </p:cNvPr>
          <p:cNvGraphicFramePr>
            <a:graphicFrameLocks/>
          </p:cNvGraphicFramePr>
          <p:nvPr>
            <p:extLst>
              <p:ext uri="{D42A27DB-BD31-4B8C-83A1-F6EECF244321}">
                <p14:modId xmlns:p14="http://schemas.microsoft.com/office/powerpoint/2010/main" val="1395317557"/>
              </p:ext>
            </p:extLst>
          </p:nvPr>
        </p:nvGraphicFramePr>
        <p:xfrm>
          <a:off x="307787" y="826247"/>
          <a:ext cx="5124823" cy="4355353"/>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978F38B9-0202-83CB-6299-D673082BB34A}"/>
              </a:ext>
            </a:extLst>
          </p:cNvPr>
          <p:cNvSpPr txBox="1"/>
          <p:nvPr/>
        </p:nvSpPr>
        <p:spPr>
          <a:xfrm>
            <a:off x="2465293" y="0"/>
            <a:ext cx="8570260" cy="711092"/>
          </a:xfrm>
          <a:prstGeom prst="rect">
            <a:avLst/>
          </a:prstGeom>
          <a:noFill/>
        </p:spPr>
        <p:txBody>
          <a:bodyPr wrap="square">
            <a:spAutoFit/>
          </a:bodyPr>
          <a:lstStyle/>
          <a:p>
            <a:pPr algn="ctr">
              <a:lnSpc>
                <a:spcPct val="100000"/>
              </a:lnSpc>
              <a:spcBef>
                <a:spcPct val="0"/>
              </a:spcBef>
            </a:pPr>
            <a:r>
              <a:rPr lang="en-IN" sz="4000" b="1" dirty="0"/>
              <a:t>New vs Old Users</a:t>
            </a:r>
            <a:endParaRPr lang="en-US" sz="4000" b="1" spc="-169" dirty="0">
              <a:cs typeface="Aharoni" panose="02010803020104030203" pitchFamily="2" charset="-79"/>
              <a:sym typeface="Lilita One"/>
            </a:endParaRPr>
          </a:p>
        </p:txBody>
      </p:sp>
      <p:sp>
        <p:nvSpPr>
          <p:cNvPr id="7" name="TextBox 6">
            <a:extLst>
              <a:ext uri="{FF2B5EF4-FFF2-40B4-BE49-F238E27FC236}">
                <a16:creationId xmlns:a16="http://schemas.microsoft.com/office/drawing/2014/main" id="{99F886AF-AD86-C8AF-EE55-A5FC20CD307A}"/>
              </a:ext>
            </a:extLst>
          </p:cNvPr>
          <p:cNvSpPr txBox="1"/>
          <p:nvPr/>
        </p:nvSpPr>
        <p:spPr>
          <a:xfrm>
            <a:off x="5585012" y="1533889"/>
            <a:ext cx="6096000" cy="2345322"/>
          </a:xfrm>
          <a:prstGeom prst="rect">
            <a:avLst/>
          </a:prstGeom>
          <a:noFill/>
        </p:spPr>
        <p:txBody>
          <a:bodyPr wrap="square">
            <a:spAutoFit/>
          </a:bodyPr>
          <a:lstStyle/>
          <a:p>
            <a:pPr marL="423338" indent="-342900">
              <a:lnSpc>
                <a:spcPct val="150000"/>
              </a:lnSpc>
              <a:buClr>
                <a:schemeClr val="tx1"/>
              </a:buClr>
              <a:buSzPts val="1700"/>
              <a:buFont typeface="Arial" panose="020B0604020202020204" pitchFamily="34" charset="0"/>
              <a:buChar char="•"/>
            </a:pPr>
            <a:r>
              <a:rPr lang="en-US" sz="2000" dirty="0">
                <a:latin typeface="Times New Roman"/>
                <a:cs typeface="Times New Roman"/>
                <a:sym typeface="Lilita One"/>
              </a:rPr>
              <a:t>There are total </a:t>
            </a:r>
            <a:r>
              <a:rPr lang="en-US" sz="2000" b="1" dirty="0">
                <a:latin typeface="Times New Roman"/>
                <a:cs typeface="Times New Roman"/>
                <a:sym typeface="Lilita One"/>
              </a:rPr>
              <a:t>100 </a:t>
            </a:r>
            <a:r>
              <a:rPr lang="en-US" sz="2000" dirty="0">
                <a:latin typeface="Times New Roman"/>
                <a:cs typeface="Times New Roman"/>
                <a:sym typeface="Lilita One"/>
              </a:rPr>
              <a:t>users.</a:t>
            </a:r>
          </a:p>
          <a:p>
            <a:pPr marL="423338" indent="-342900">
              <a:lnSpc>
                <a:spcPct val="100000"/>
              </a:lnSpc>
              <a:buClr>
                <a:schemeClr val="tx1"/>
              </a:buClr>
              <a:buSzPts val="17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Users who created their account before </a:t>
            </a:r>
            <a:r>
              <a:rPr lang="en-IN" sz="2000" b="1" dirty="0">
                <a:latin typeface="Times New Roman" panose="02020603050405020304" pitchFamily="18" charset="0"/>
                <a:cs typeface="Times New Roman" panose="02020603050405020304" pitchFamily="18" charset="0"/>
              </a:rPr>
              <a:t>2017</a:t>
            </a:r>
            <a:r>
              <a:rPr lang="en-IN" sz="2000" dirty="0">
                <a:latin typeface="Times New Roman" panose="02020603050405020304" pitchFamily="18" charset="0"/>
                <a:cs typeface="Times New Roman" panose="02020603050405020304" pitchFamily="18" charset="0"/>
              </a:rPr>
              <a:t> are considered Old Users; otherwise, they are classified as New Users</a:t>
            </a:r>
            <a:r>
              <a:rPr lang="en-US" sz="2000" dirty="0">
                <a:latin typeface="Times New Roman" panose="02020603050405020304" pitchFamily="18" charset="0"/>
                <a:cs typeface="Times New Roman" panose="02020603050405020304" pitchFamily="18" charset="0"/>
                <a:sym typeface="Lilita One"/>
              </a:rPr>
              <a:t>.</a:t>
            </a:r>
          </a:p>
          <a:p>
            <a:pPr marL="423338" indent="-342900">
              <a:lnSpc>
                <a:spcPct val="150000"/>
              </a:lnSpc>
              <a:buClr>
                <a:schemeClr val="tx1"/>
              </a:buClr>
              <a:buSzPts val="1700"/>
              <a:buFont typeface="Arial" panose="020B0604020202020204" pitchFamily="34" charset="0"/>
              <a:buChar char="•"/>
            </a:pPr>
            <a:r>
              <a:rPr lang="en-US" sz="2000" b="1" dirty="0">
                <a:latin typeface="Times New Roman"/>
                <a:cs typeface="Times New Roman"/>
                <a:sym typeface="Lilita One"/>
              </a:rPr>
              <a:t>65% </a:t>
            </a:r>
            <a:r>
              <a:rPr lang="en-US" sz="2000" dirty="0">
                <a:latin typeface="Times New Roman"/>
                <a:cs typeface="Times New Roman"/>
                <a:sym typeface="Lilita One"/>
              </a:rPr>
              <a:t>of users are </a:t>
            </a:r>
            <a:r>
              <a:rPr lang="en-US" sz="2000" b="1" dirty="0">
                <a:latin typeface="Times New Roman"/>
                <a:cs typeface="Times New Roman"/>
                <a:sym typeface="Lilita One"/>
              </a:rPr>
              <a:t>Old Users </a:t>
            </a:r>
            <a:r>
              <a:rPr lang="en-US" sz="2000" dirty="0">
                <a:latin typeface="Times New Roman"/>
                <a:cs typeface="Times New Roman"/>
                <a:sym typeface="Lilita One"/>
              </a:rPr>
              <a:t>and </a:t>
            </a:r>
            <a:r>
              <a:rPr lang="en-US" sz="2000" b="1" dirty="0">
                <a:latin typeface="Times New Roman"/>
                <a:cs typeface="Times New Roman"/>
                <a:sym typeface="Lilita One"/>
              </a:rPr>
              <a:t>35 % </a:t>
            </a:r>
            <a:r>
              <a:rPr lang="en-US" sz="2000" dirty="0">
                <a:latin typeface="Times New Roman"/>
                <a:cs typeface="Times New Roman"/>
                <a:sym typeface="Lilita One"/>
              </a:rPr>
              <a:t>of users are </a:t>
            </a:r>
            <a:r>
              <a:rPr lang="en-US" sz="2000" b="1" dirty="0">
                <a:latin typeface="Times New Roman"/>
                <a:cs typeface="Times New Roman"/>
                <a:sym typeface="Lilita One"/>
              </a:rPr>
              <a:t>New Users</a:t>
            </a:r>
            <a:r>
              <a:rPr lang="en-US" sz="2000" dirty="0">
                <a:latin typeface="Times New Roman"/>
                <a:cs typeface="Times New Roman"/>
                <a:sym typeface="Lilita One"/>
              </a:rPr>
              <a:t>.</a:t>
            </a:r>
          </a:p>
        </p:txBody>
      </p:sp>
    </p:spTree>
    <p:extLst>
      <p:ext uri="{BB962C8B-B14F-4D97-AF65-F5344CB8AC3E}">
        <p14:creationId xmlns:p14="http://schemas.microsoft.com/office/powerpoint/2010/main" val="1062789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7"/>
          <p:cNvSpPr txBox="1">
            <a:spLocks noGrp="1"/>
          </p:cNvSpPr>
          <p:nvPr>
            <p:ph type="ctrTitle" idx="4294967295"/>
          </p:nvPr>
        </p:nvSpPr>
        <p:spPr>
          <a:xfrm>
            <a:off x="0" y="0"/>
            <a:ext cx="12192000" cy="1028700"/>
          </a:xfrm>
          <a:prstGeom prst="rect">
            <a:avLst/>
          </a:prstGeom>
          <a:noFill/>
          <a:ln>
            <a:noFill/>
          </a:ln>
        </p:spPr>
        <p:txBody>
          <a:bodyPr spcFirstLastPara="1" vert="horz" wrap="square" lIns="121900" tIns="121900" rIns="121900" bIns="121900" rtlCol="0" anchor="b" anchorCtr="0">
            <a:normAutofit/>
          </a:bodyPr>
          <a:lstStyle/>
          <a:p>
            <a:pPr marL="1828754" algn="ctr">
              <a:lnSpc>
                <a:spcPct val="100000"/>
              </a:lnSpc>
              <a:spcBef>
                <a:spcPts val="0"/>
              </a:spcBef>
              <a:buSzPts val="4800"/>
            </a:pPr>
            <a:r>
              <a:rPr lang="en-GB" sz="4000" b="1" dirty="0">
                <a:latin typeface="+mn-lt"/>
                <a:ea typeface="DM Serif Text"/>
                <a:cs typeface="DM Serif Text"/>
                <a:sym typeface="DM Serif Text"/>
              </a:rPr>
              <a:t>Engagement Analysis</a:t>
            </a:r>
            <a:endParaRPr sz="4000" b="1" dirty="0">
              <a:latin typeface="+mn-lt"/>
              <a:ea typeface="DM Serif Text"/>
              <a:cs typeface="DM Serif Text"/>
              <a:sym typeface="DM Serif Text"/>
            </a:endParaRPr>
          </a:p>
        </p:txBody>
      </p:sp>
      <p:sp>
        <p:nvSpPr>
          <p:cNvPr id="106" name="Google Shape;106;p7"/>
          <p:cNvSpPr txBox="1"/>
          <p:nvPr/>
        </p:nvSpPr>
        <p:spPr>
          <a:xfrm>
            <a:off x="6995267" y="1033600"/>
            <a:ext cx="4669200" cy="5378000"/>
          </a:xfrm>
          <a:prstGeom prst="rect">
            <a:avLst/>
          </a:prstGeom>
          <a:noFill/>
          <a:ln>
            <a:noFill/>
          </a:ln>
        </p:spPr>
        <p:txBody>
          <a:bodyPr spcFirstLastPara="1" wrap="square" lIns="121900" tIns="121900" rIns="121900" bIns="121900" anchor="t" anchorCtr="0">
            <a:noAutofit/>
          </a:bodyPr>
          <a:lstStyle/>
          <a:p>
            <a:pPr marL="495296" indent="-342900">
              <a:buSzPts val="1800"/>
              <a:buFont typeface="Arial" panose="020B0604020202020204" pitchFamily="34" charset="0"/>
              <a:buChar char="•"/>
            </a:pPr>
            <a:r>
              <a:rPr lang="en-US" sz="2000" dirty="0">
                <a:latin typeface="Times New Roman"/>
                <a:ea typeface="Times New Roman"/>
                <a:cs typeface="Times New Roman"/>
                <a:sym typeface="Times New Roman"/>
              </a:rPr>
              <a:t>The Engagement Rate is calculated by the sum of Number of Likes and Number of Comments for each User.</a:t>
            </a:r>
          </a:p>
          <a:p>
            <a:pPr marL="152396">
              <a:buSzPts val="1800"/>
            </a:pPr>
            <a:endParaRPr sz="2000" dirty="0">
              <a:latin typeface="Times New Roman"/>
              <a:ea typeface="Times New Roman"/>
              <a:cs typeface="Times New Roman"/>
              <a:sym typeface="Times New Roman"/>
            </a:endParaRPr>
          </a:p>
          <a:p>
            <a:pPr marL="495296" indent="-342900">
              <a:buSzPts val="1800"/>
              <a:buFont typeface="Arial" panose="020B0604020202020204" pitchFamily="34" charset="0"/>
              <a:buChar char="•"/>
            </a:pPr>
            <a:r>
              <a:rPr lang="en-GB" sz="2000" dirty="0">
                <a:latin typeface="Times New Roman"/>
                <a:ea typeface="Times New Roman"/>
                <a:cs typeface="Times New Roman"/>
                <a:sym typeface="Times New Roman"/>
              </a:rPr>
              <a:t>Average engagement rate of all users is 65.</a:t>
            </a:r>
            <a:endParaRPr sz="2000" dirty="0">
              <a:latin typeface="Times New Roman"/>
              <a:ea typeface="Times New Roman"/>
              <a:cs typeface="Times New Roman"/>
              <a:sym typeface="Times New Roman"/>
            </a:endParaRPr>
          </a:p>
          <a:p>
            <a:pPr marL="952485" indent="-342900">
              <a:buFont typeface="Arial" panose="020B0604020202020204" pitchFamily="34" charset="0"/>
              <a:buChar char="•"/>
            </a:pPr>
            <a:endParaRPr sz="2000" dirty="0">
              <a:latin typeface="Times New Roman"/>
              <a:ea typeface="Times New Roman"/>
              <a:cs typeface="Times New Roman"/>
              <a:sym typeface="Times New Roman"/>
            </a:endParaRPr>
          </a:p>
          <a:p>
            <a:pPr marL="495296" indent="-342900">
              <a:buSzPts val="1800"/>
              <a:buFont typeface="Arial" panose="020B0604020202020204" pitchFamily="34" charset="0"/>
              <a:buChar char="•"/>
            </a:pPr>
            <a:r>
              <a:rPr lang="en-GB" sz="2000" dirty="0">
                <a:latin typeface="Times New Roman"/>
                <a:ea typeface="Times New Roman"/>
                <a:cs typeface="Times New Roman"/>
                <a:sym typeface="Times New Roman"/>
              </a:rPr>
              <a:t>Only 31 users have more than average engagement rate and 18 users have more than 100.</a:t>
            </a:r>
            <a:endParaRPr sz="2000" dirty="0">
              <a:latin typeface="Times New Roman"/>
              <a:ea typeface="Times New Roman"/>
              <a:cs typeface="Times New Roman"/>
              <a:sym typeface="Times New Roman"/>
            </a:endParaRPr>
          </a:p>
          <a:p>
            <a:pPr marL="952485" indent="-342900">
              <a:buFont typeface="Arial" panose="020B0604020202020204" pitchFamily="34" charset="0"/>
              <a:buChar char="•"/>
            </a:pPr>
            <a:endParaRPr sz="2000" dirty="0">
              <a:latin typeface="Times New Roman"/>
              <a:ea typeface="Times New Roman"/>
              <a:cs typeface="Times New Roman"/>
              <a:sym typeface="Times New Roman"/>
            </a:endParaRPr>
          </a:p>
          <a:p>
            <a:pPr marL="495296" indent="-342900">
              <a:buSzPts val="1800"/>
              <a:buFont typeface="Arial" panose="020B0604020202020204" pitchFamily="34" charset="0"/>
              <a:buChar char="•"/>
            </a:pPr>
            <a:r>
              <a:rPr lang="en-GB" sz="2000" dirty="0">
                <a:latin typeface="Times New Roman"/>
                <a:ea typeface="Times New Roman"/>
                <a:cs typeface="Times New Roman"/>
                <a:sym typeface="Times New Roman"/>
              </a:rPr>
              <a:t>We will track their posts that gets most of the likes and comments and promote those kind of content.</a:t>
            </a:r>
            <a:endParaRPr sz="2000" dirty="0">
              <a:latin typeface="Times New Roman"/>
              <a:ea typeface="Times New Roman"/>
              <a:cs typeface="Times New Roman"/>
              <a:sym typeface="Times New Roman"/>
            </a:endParaRPr>
          </a:p>
          <a:p>
            <a:pPr marL="952485" indent="-342900">
              <a:buFont typeface="Arial" panose="020B0604020202020204" pitchFamily="34" charset="0"/>
              <a:buChar char="•"/>
            </a:pPr>
            <a:endParaRPr sz="2000" dirty="0">
              <a:latin typeface="Times New Roman"/>
              <a:ea typeface="Times New Roman"/>
              <a:cs typeface="Times New Roman"/>
              <a:sym typeface="Times New Roman"/>
            </a:endParaRPr>
          </a:p>
          <a:p>
            <a:pPr marL="952485" indent="-342900">
              <a:buSzPts val="1800"/>
              <a:buFont typeface="Arial" panose="020B0604020202020204" pitchFamily="34" charset="0"/>
              <a:buChar char="•"/>
            </a:pPr>
            <a:endParaRPr sz="2000" dirty="0">
              <a:latin typeface="Times New Roman"/>
              <a:ea typeface="Times New Roman"/>
              <a:cs typeface="Times New Roman"/>
              <a:sym typeface="Times New Roman"/>
            </a:endParaRPr>
          </a:p>
        </p:txBody>
      </p:sp>
      <p:graphicFrame>
        <p:nvGraphicFramePr>
          <p:cNvPr id="5" name="Chart 4">
            <a:extLst>
              <a:ext uri="{FF2B5EF4-FFF2-40B4-BE49-F238E27FC236}">
                <a16:creationId xmlns:a16="http://schemas.microsoft.com/office/drawing/2014/main" id="{517A9363-C349-58F6-79A1-9241BC070B15}"/>
              </a:ext>
            </a:extLst>
          </p:cNvPr>
          <p:cNvGraphicFramePr>
            <a:graphicFrameLocks/>
          </p:cNvGraphicFramePr>
          <p:nvPr>
            <p:extLst>
              <p:ext uri="{D42A27DB-BD31-4B8C-83A1-F6EECF244321}">
                <p14:modId xmlns:p14="http://schemas.microsoft.com/office/powerpoint/2010/main" val="1457476224"/>
              </p:ext>
            </p:extLst>
          </p:nvPr>
        </p:nvGraphicFramePr>
        <p:xfrm>
          <a:off x="213467" y="1028700"/>
          <a:ext cx="6781800" cy="4648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47929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9"/>
          <p:cNvSpPr txBox="1">
            <a:spLocks noGrp="1"/>
          </p:cNvSpPr>
          <p:nvPr>
            <p:ph type="ctrTitle" idx="4294967295"/>
          </p:nvPr>
        </p:nvSpPr>
        <p:spPr>
          <a:xfrm>
            <a:off x="653563" y="0"/>
            <a:ext cx="10963275" cy="1244600"/>
          </a:xfrm>
          <a:prstGeom prst="rect">
            <a:avLst/>
          </a:prstGeom>
          <a:noFill/>
          <a:ln>
            <a:noFill/>
          </a:ln>
        </p:spPr>
        <p:txBody>
          <a:bodyPr spcFirstLastPara="1" vert="horz" wrap="square" lIns="121900" tIns="121900" rIns="121900" bIns="121900" rtlCol="0" anchor="b" anchorCtr="0">
            <a:noAutofit/>
          </a:bodyPr>
          <a:lstStyle/>
          <a:p>
            <a:pPr marL="2438339">
              <a:lnSpc>
                <a:spcPct val="100000"/>
              </a:lnSpc>
              <a:spcBef>
                <a:spcPts val="0"/>
              </a:spcBef>
              <a:buSzPct val="111111"/>
            </a:pPr>
            <a:r>
              <a:rPr lang="en-GB" sz="4000" b="1" dirty="0">
                <a:latin typeface="+mn-lt"/>
                <a:ea typeface="DM Serif Text"/>
                <a:cs typeface="DM Serif Text"/>
                <a:sym typeface="DM Serif Text"/>
              </a:rPr>
              <a:t>Content Performance</a:t>
            </a:r>
            <a:endParaRPr sz="4000" b="1" dirty="0">
              <a:latin typeface="+mn-lt"/>
              <a:ea typeface="DM Serif Text"/>
              <a:cs typeface="DM Serif Text"/>
              <a:sym typeface="DM Serif Text"/>
            </a:endParaRPr>
          </a:p>
        </p:txBody>
      </p:sp>
      <p:sp>
        <p:nvSpPr>
          <p:cNvPr id="124" name="Google Shape;124;p9"/>
          <p:cNvSpPr txBox="1">
            <a:spLocks noGrp="1"/>
          </p:cNvSpPr>
          <p:nvPr>
            <p:ph type="subTitle" idx="4294967295"/>
          </p:nvPr>
        </p:nvSpPr>
        <p:spPr>
          <a:xfrm>
            <a:off x="0" y="1547813"/>
            <a:ext cx="6135688" cy="5295900"/>
          </a:xfrm>
          <a:prstGeom prst="rect">
            <a:avLst/>
          </a:prstGeom>
          <a:noFill/>
          <a:ln>
            <a:noFill/>
          </a:ln>
        </p:spPr>
        <p:txBody>
          <a:bodyPr spcFirstLastPara="1" vert="horz" wrap="square" lIns="121900" tIns="121900" rIns="121900" bIns="121900" rtlCol="0" anchor="t" anchorCtr="0">
            <a:noAutofit/>
          </a:bodyPr>
          <a:lstStyle/>
          <a:p>
            <a:pPr marL="346706" indent="-285750">
              <a:lnSpc>
                <a:spcPct val="100000"/>
              </a:lnSpc>
              <a:spcBef>
                <a:spcPts val="0"/>
              </a:spcBef>
              <a:spcAft>
                <a:spcPts val="0"/>
              </a:spcAft>
              <a:buClrTx/>
              <a:buSzPts val="1800"/>
              <a:buFont typeface="Arial" panose="020B0604020202020204" pitchFamily="34" charset="0"/>
              <a:buChar char="•"/>
            </a:pPr>
            <a:r>
              <a:rPr lang="en-GB" sz="1600" dirty="0">
                <a:latin typeface="Arial" panose="020B0604020202020204" pitchFamily="34" charset="0"/>
                <a:ea typeface="Times New Roman"/>
                <a:cs typeface="Arial" panose="020B0604020202020204" pitchFamily="34" charset="0"/>
                <a:sym typeface="Times New Roman"/>
              </a:rPr>
              <a:t>Dreamy Tag has the highest likes where as foodie tags has lowest number of likes.</a:t>
            </a:r>
            <a:endParaRPr sz="1600" dirty="0">
              <a:latin typeface="Arial" panose="020B0604020202020204" pitchFamily="34" charset="0"/>
              <a:ea typeface="Times New Roman"/>
              <a:cs typeface="Arial" panose="020B0604020202020204" pitchFamily="34" charset="0"/>
              <a:sym typeface="Times New Roman"/>
            </a:endParaRPr>
          </a:p>
          <a:p>
            <a:pPr marL="803895" indent="-285750">
              <a:lnSpc>
                <a:spcPct val="100000"/>
              </a:lnSpc>
              <a:spcBef>
                <a:spcPts val="0"/>
              </a:spcBef>
              <a:spcAft>
                <a:spcPts val="0"/>
              </a:spcAft>
              <a:buClrTx/>
              <a:buFont typeface="Arial" panose="020B0604020202020204" pitchFamily="34" charset="0"/>
              <a:buChar char="•"/>
            </a:pPr>
            <a:endParaRPr sz="1600" dirty="0">
              <a:latin typeface="Arial" panose="020B0604020202020204" pitchFamily="34" charset="0"/>
              <a:ea typeface="Times New Roman"/>
              <a:cs typeface="Arial" panose="020B0604020202020204" pitchFamily="34" charset="0"/>
              <a:sym typeface="Times New Roman"/>
            </a:endParaRPr>
          </a:p>
          <a:p>
            <a:pPr marL="346706" indent="-285750">
              <a:lnSpc>
                <a:spcPct val="100000"/>
              </a:lnSpc>
              <a:spcBef>
                <a:spcPts val="0"/>
              </a:spcBef>
              <a:spcAft>
                <a:spcPts val="0"/>
              </a:spcAft>
              <a:buClrTx/>
              <a:buSzPts val="1800"/>
              <a:buFont typeface="Arial" panose="020B0604020202020204" pitchFamily="34" charset="0"/>
              <a:buChar char="•"/>
            </a:pPr>
            <a:r>
              <a:rPr lang="en-GB" sz="1600" dirty="0">
                <a:latin typeface="Arial" panose="020B0604020202020204" pitchFamily="34" charset="0"/>
                <a:ea typeface="Times New Roman"/>
                <a:cs typeface="Arial" panose="020B0604020202020204" pitchFamily="34" charset="0"/>
                <a:sym typeface="Times New Roman"/>
              </a:rPr>
              <a:t>Hashtags with high count of Likes are the popular tags among all.</a:t>
            </a:r>
            <a:endParaRPr sz="1600" dirty="0">
              <a:latin typeface="Arial" panose="020B0604020202020204" pitchFamily="34" charset="0"/>
              <a:ea typeface="Times New Roman"/>
              <a:cs typeface="Arial" panose="020B0604020202020204" pitchFamily="34" charset="0"/>
              <a:sym typeface="Times New Roman"/>
            </a:endParaRPr>
          </a:p>
          <a:p>
            <a:pPr marL="803895" indent="-285750">
              <a:lnSpc>
                <a:spcPct val="100000"/>
              </a:lnSpc>
              <a:spcBef>
                <a:spcPts val="0"/>
              </a:spcBef>
              <a:spcAft>
                <a:spcPts val="0"/>
              </a:spcAft>
              <a:buClrTx/>
              <a:buSzPts val="1800"/>
              <a:buFont typeface="Arial" panose="020B0604020202020204" pitchFamily="34" charset="0"/>
              <a:buChar char="•"/>
            </a:pPr>
            <a:endParaRPr sz="1600" dirty="0">
              <a:latin typeface="Arial" panose="020B0604020202020204" pitchFamily="34" charset="0"/>
              <a:ea typeface="Times New Roman"/>
              <a:cs typeface="Arial" panose="020B0604020202020204" pitchFamily="34" charset="0"/>
              <a:sym typeface="Times New Roman"/>
            </a:endParaRPr>
          </a:p>
          <a:p>
            <a:pPr marL="346706" indent="-285750">
              <a:lnSpc>
                <a:spcPct val="100000"/>
              </a:lnSpc>
              <a:spcBef>
                <a:spcPts val="0"/>
              </a:spcBef>
              <a:spcAft>
                <a:spcPts val="0"/>
              </a:spcAft>
              <a:buClrTx/>
              <a:buSzPts val="1800"/>
              <a:buFont typeface="Arial" panose="020B0604020202020204" pitchFamily="34" charset="0"/>
              <a:buChar char="•"/>
            </a:pPr>
            <a:r>
              <a:rPr lang="en-GB" sz="1600" dirty="0">
                <a:latin typeface="Arial" panose="020B0604020202020204" pitchFamily="34" charset="0"/>
                <a:ea typeface="Times New Roman"/>
                <a:cs typeface="Arial" panose="020B0604020202020204" pitchFamily="34" charset="0"/>
                <a:sym typeface="Times New Roman"/>
              </a:rPr>
              <a:t>Popular tags will be promoted and influencers will promote popular tags by using them in their posts.</a:t>
            </a:r>
            <a:endParaRPr sz="1600" dirty="0">
              <a:latin typeface="Arial" panose="020B0604020202020204" pitchFamily="34" charset="0"/>
              <a:ea typeface="Times New Roman"/>
              <a:cs typeface="Arial" panose="020B0604020202020204" pitchFamily="34" charset="0"/>
              <a:sym typeface="Times New Roman"/>
            </a:endParaRPr>
          </a:p>
          <a:p>
            <a:pPr>
              <a:lnSpc>
                <a:spcPct val="100000"/>
              </a:lnSpc>
              <a:spcBef>
                <a:spcPts val="0"/>
              </a:spcBef>
              <a:spcAft>
                <a:spcPts val="0"/>
              </a:spcAft>
              <a:buClrTx/>
              <a:buSzPts val="1800"/>
              <a:buFont typeface="Arial" panose="020B0604020202020204" pitchFamily="34" charset="0"/>
              <a:buChar char="•"/>
            </a:pPr>
            <a:endParaRPr sz="1600" dirty="0">
              <a:latin typeface="Arial" panose="020B0604020202020204" pitchFamily="34" charset="0"/>
              <a:ea typeface="Times New Roman"/>
              <a:cs typeface="Arial" panose="020B0604020202020204" pitchFamily="34" charset="0"/>
              <a:sym typeface="Times New Roman"/>
            </a:endParaRPr>
          </a:p>
          <a:p>
            <a:pPr marL="346706" indent="-285750">
              <a:lnSpc>
                <a:spcPct val="100000"/>
              </a:lnSpc>
              <a:spcBef>
                <a:spcPts val="0"/>
              </a:spcBef>
              <a:spcAft>
                <a:spcPts val="0"/>
              </a:spcAft>
              <a:buClrTx/>
              <a:buSzPts val="1800"/>
              <a:buFont typeface="Arial" panose="020B0604020202020204" pitchFamily="34" charset="0"/>
              <a:buChar char="•"/>
            </a:pPr>
            <a:r>
              <a:rPr lang="en-GB" sz="1600" dirty="0">
                <a:latin typeface="Arial" panose="020B0604020202020204" pitchFamily="34" charset="0"/>
                <a:ea typeface="Times New Roman"/>
                <a:cs typeface="Arial" panose="020B0604020202020204" pitchFamily="34" charset="0"/>
                <a:sym typeface="Times New Roman"/>
              </a:rPr>
              <a:t>Contents related to these tags should be frequently shown on explore pages of the users to engage them.</a:t>
            </a:r>
            <a:endParaRPr sz="1600" dirty="0">
              <a:latin typeface="Arial" panose="020B0604020202020204" pitchFamily="34" charset="0"/>
              <a:ea typeface="Times New Roman"/>
              <a:cs typeface="Arial" panose="020B0604020202020204" pitchFamily="34" charset="0"/>
              <a:sym typeface="Times New Roman"/>
            </a:endParaRPr>
          </a:p>
          <a:p>
            <a:pPr>
              <a:lnSpc>
                <a:spcPct val="100000"/>
              </a:lnSpc>
              <a:spcBef>
                <a:spcPts val="0"/>
              </a:spcBef>
              <a:spcAft>
                <a:spcPts val="0"/>
              </a:spcAft>
              <a:buClrTx/>
              <a:buSzPts val="1800"/>
              <a:buFont typeface="Arial" panose="020B0604020202020204" pitchFamily="34" charset="0"/>
              <a:buChar char="•"/>
            </a:pPr>
            <a:endParaRPr sz="1600" dirty="0">
              <a:latin typeface="Arial" panose="020B0604020202020204" pitchFamily="34" charset="0"/>
              <a:ea typeface="Times New Roman"/>
              <a:cs typeface="Arial" panose="020B0604020202020204" pitchFamily="34" charset="0"/>
              <a:sym typeface="Times New Roman"/>
            </a:endParaRPr>
          </a:p>
          <a:p>
            <a:pPr marL="346706" indent="-285750">
              <a:lnSpc>
                <a:spcPct val="100000"/>
              </a:lnSpc>
              <a:spcBef>
                <a:spcPts val="0"/>
              </a:spcBef>
              <a:spcAft>
                <a:spcPts val="0"/>
              </a:spcAft>
              <a:buClrTx/>
              <a:buSzPts val="1800"/>
              <a:buFont typeface="Arial" panose="020B0604020202020204" pitchFamily="34" charset="0"/>
              <a:buChar char="•"/>
            </a:pPr>
            <a:r>
              <a:rPr lang="en-GB" sz="1600" dirty="0">
                <a:latin typeface="Arial" panose="020B0604020202020204" pitchFamily="34" charset="0"/>
                <a:ea typeface="Times New Roman"/>
                <a:cs typeface="Arial" panose="020B0604020202020204" pitchFamily="34" charset="0"/>
                <a:sym typeface="Times New Roman"/>
              </a:rPr>
              <a:t>Tags other than dreamy have very much same no. of likes so they should also be optimised.</a:t>
            </a:r>
            <a:endParaRPr sz="1600" dirty="0">
              <a:latin typeface="Arial" panose="020B0604020202020204" pitchFamily="34" charset="0"/>
              <a:ea typeface="Times New Roman"/>
              <a:cs typeface="Arial" panose="020B0604020202020204" pitchFamily="34" charset="0"/>
              <a:sym typeface="Times New Roman"/>
            </a:endParaRPr>
          </a:p>
        </p:txBody>
      </p:sp>
      <p:graphicFrame>
        <p:nvGraphicFramePr>
          <p:cNvPr id="5" name="Chart 4"/>
          <p:cNvGraphicFramePr>
            <a:graphicFrameLocks/>
          </p:cNvGraphicFramePr>
          <p:nvPr>
            <p:extLst>
              <p:ext uri="{D42A27DB-BD31-4B8C-83A1-F6EECF244321}">
                <p14:modId xmlns:p14="http://schemas.microsoft.com/office/powerpoint/2010/main" val="1819883179"/>
              </p:ext>
            </p:extLst>
          </p:nvPr>
        </p:nvGraphicFramePr>
        <p:xfrm>
          <a:off x="6135200" y="1633537"/>
          <a:ext cx="5818675" cy="346233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22196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D0121F05-284D-288E-3881-F06AFEA06DF6}"/>
              </a:ext>
            </a:extLst>
          </p:cNvPr>
          <p:cNvSpPr txBox="1"/>
          <p:nvPr/>
        </p:nvSpPr>
        <p:spPr>
          <a:xfrm>
            <a:off x="2387600" y="228600"/>
            <a:ext cx="7112000" cy="693267"/>
          </a:xfrm>
          <a:prstGeom prst="rect">
            <a:avLst/>
          </a:prstGeom>
        </p:spPr>
        <p:txBody>
          <a:bodyPr wrap="square" lIns="0" tIns="0" rIns="0" bIns="0" rtlCol="0" anchor="t">
            <a:spAutoFit/>
          </a:bodyPr>
          <a:lstStyle/>
          <a:p>
            <a:pPr algn="ctr">
              <a:lnSpc>
                <a:spcPts val="5760"/>
              </a:lnSpc>
              <a:spcBef>
                <a:spcPct val="0"/>
              </a:spcBef>
            </a:pPr>
            <a:r>
              <a:rPr lang="en-US" sz="4000" b="1" spc="-169" dirty="0">
                <a:cs typeface="Aharoni" panose="02010803020104030203" pitchFamily="2" charset="-79"/>
                <a:sym typeface="Lilita One"/>
              </a:rPr>
              <a:t>Recommendation</a:t>
            </a:r>
          </a:p>
        </p:txBody>
      </p:sp>
      <p:sp>
        <p:nvSpPr>
          <p:cNvPr id="5" name="TextBox 4">
            <a:extLst>
              <a:ext uri="{FF2B5EF4-FFF2-40B4-BE49-F238E27FC236}">
                <a16:creationId xmlns:a16="http://schemas.microsoft.com/office/drawing/2014/main" id="{45538472-B647-71BE-E295-374D883F71AA}"/>
              </a:ext>
            </a:extLst>
          </p:cNvPr>
          <p:cNvSpPr txBox="1"/>
          <p:nvPr/>
        </p:nvSpPr>
        <p:spPr>
          <a:xfrm>
            <a:off x="95249" y="921867"/>
            <a:ext cx="5026025" cy="627864"/>
          </a:xfrm>
          <a:prstGeom prst="rect">
            <a:avLst/>
          </a:prstGeom>
        </p:spPr>
        <p:txBody>
          <a:bodyPr wrap="square" lIns="0" tIns="0" rIns="0" bIns="0" rtlCol="0" anchor="t">
            <a:spAutoFit/>
          </a:bodyPr>
          <a:lstStyle/>
          <a:p>
            <a:pPr algn="ctr">
              <a:lnSpc>
                <a:spcPts val="5760"/>
              </a:lnSpc>
              <a:spcBef>
                <a:spcPct val="0"/>
              </a:spcBef>
            </a:pPr>
            <a:r>
              <a:rPr lang="en-US" sz="2400" b="1" spc="-169" dirty="0">
                <a:latin typeface="Aharoni" panose="02010803020104030203" pitchFamily="2" charset="-79"/>
                <a:cs typeface="Aharoni" panose="02010803020104030203" pitchFamily="2" charset="-79"/>
                <a:sym typeface="Lilita One"/>
              </a:rPr>
              <a:t>Re-Engaging user</a:t>
            </a:r>
          </a:p>
        </p:txBody>
      </p:sp>
      <p:sp>
        <p:nvSpPr>
          <p:cNvPr id="4" name="TextBox 3"/>
          <p:cNvSpPr txBox="1"/>
          <p:nvPr/>
        </p:nvSpPr>
        <p:spPr>
          <a:xfrm>
            <a:off x="704850" y="1779687"/>
            <a:ext cx="5581650" cy="3139321"/>
          </a:xfrm>
          <a:prstGeom prst="rect">
            <a:avLst/>
          </a:prstGeom>
          <a:noFill/>
        </p:spPr>
        <p:txBody>
          <a:bodyPr wrap="square" rtlCol="0">
            <a:spAutoFit/>
          </a:bodyPr>
          <a:lstStyle/>
          <a:p>
            <a:pPr marL="285750" indent="-285750">
              <a:buFont typeface="Arial" panose="020B0604020202020204" pitchFamily="34" charset="0"/>
              <a:buChar char="•"/>
            </a:pPr>
            <a:r>
              <a:rPr lang="en-US" b="1" dirty="0"/>
              <a:t>Personalized Recommendation:</a:t>
            </a:r>
          </a:p>
          <a:p>
            <a:pPr marL="742950" lvl="1" indent="-285750">
              <a:buFont typeface="Arial" panose="020B0604020202020204" pitchFamily="34" charset="0"/>
              <a:buChar char="•"/>
            </a:pPr>
            <a:r>
              <a:rPr lang="en-US" dirty="0"/>
              <a:t>Use Instagram insights of user to analyze interests and interactions.</a:t>
            </a:r>
          </a:p>
          <a:p>
            <a:pPr marL="742950" lvl="1" indent="-285750">
              <a:buFont typeface="Arial" panose="020B0604020202020204" pitchFamily="34" charset="0"/>
              <a:buChar char="•"/>
            </a:pPr>
            <a:r>
              <a:rPr lang="en-US" dirty="0"/>
              <a:t>Create content tailored to specific user groups.</a:t>
            </a:r>
          </a:p>
          <a:p>
            <a:pPr marL="285750" indent="-285750">
              <a:buFont typeface="Arial" panose="020B0604020202020204" pitchFamily="34" charset="0"/>
              <a:buChar char="•"/>
            </a:pPr>
            <a:r>
              <a:rPr lang="en-US" b="1" dirty="0"/>
              <a:t>Re-engagement E-mails: </a:t>
            </a:r>
          </a:p>
          <a:p>
            <a:pPr marL="742950" lvl="1" indent="-285750">
              <a:buFont typeface="Arial" panose="020B0604020202020204" pitchFamily="34" charset="0"/>
              <a:buChar char="•"/>
            </a:pPr>
            <a:r>
              <a:rPr lang="en-US" dirty="0"/>
              <a:t>Send personalized emails. </a:t>
            </a:r>
          </a:p>
          <a:p>
            <a:pPr marL="742950" lvl="1" indent="-285750">
              <a:buFont typeface="Arial" panose="020B0604020202020204" pitchFamily="34" charset="0"/>
              <a:buChar char="•"/>
            </a:pPr>
            <a:r>
              <a:rPr lang="en-US" dirty="0"/>
              <a:t>Suggest content, groups, or hashtags.</a:t>
            </a:r>
          </a:p>
          <a:p>
            <a:pPr marL="285750" indent="-285750">
              <a:buFont typeface="Arial" panose="020B0604020202020204" pitchFamily="34" charset="0"/>
              <a:buChar char="•"/>
            </a:pPr>
            <a:r>
              <a:rPr lang="en-US" b="1" dirty="0"/>
              <a:t>Hashtag Targeting:</a:t>
            </a:r>
          </a:p>
          <a:p>
            <a:pPr marL="742950" lvl="1" indent="-285750">
              <a:buFont typeface="Arial" panose="020B0604020202020204" pitchFamily="34" charset="0"/>
              <a:buChar char="•"/>
            </a:pPr>
            <a:r>
              <a:rPr lang="en-US" dirty="0"/>
              <a:t>Research popular hashtags.</a:t>
            </a:r>
          </a:p>
          <a:p>
            <a:pPr marL="742950" lvl="1" indent="-285750">
              <a:buFont typeface="Arial" panose="020B0604020202020204" pitchFamily="34" charset="0"/>
              <a:buChar char="•"/>
            </a:pPr>
            <a:r>
              <a:rPr lang="en-US" dirty="0"/>
              <a:t>Identify relevant hashtags</a:t>
            </a:r>
          </a:p>
          <a:p>
            <a:pPr marL="742950" lvl="1" indent="-285750">
              <a:buFont typeface="Arial" panose="020B0604020202020204" pitchFamily="34" charset="0"/>
              <a:buChar char="•"/>
            </a:pPr>
            <a:r>
              <a:rPr lang="en-US" dirty="0"/>
              <a:t>Incorporate hashtags into your content and ads.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2706" y="1235799"/>
            <a:ext cx="3633788" cy="3633788"/>
          </a:xfrm>
          <a:prstGeom prst="rect">
            <a:avLst/>
          </a:prstGeom>
        </p:spPr>
      </p:pic>
    </p:spTree>
    <p:extLst>
      <p:ext uri="{BB962C8B-B14F-4D97-AF65-F5344CB8AC3E}">
        <p14:creationId xmlns:p14="http://schemas.microsoft.com/office/powerpoint/2010/main" val="1661907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D0121F05-284D-288E-3881-F06AFEA06DF6}"/>
              </a:ext>
            </a:extLst>
          </p:cNvPr>
          <p:cNvSpPr txBox="1"/>
          <p:nvPr/>
        </p:nvSpPr>
        <p:spPr>
          <a:xfrm>
            <a:off x="2387600" y="228600"/>
            <a:ext cx="7112000" cy="693267"/>
          </a:xfrm>
          <a:prstGeom prst="rect">
            <a:avLst/>
          </a:prstGeom>
        </p:spPr>
        <p:txBody>
          <a:bodyPr wrap="square" lIns="0" tIns="0" rIns="0" bIns="0" rtlCol="0" anchor="t">
            <a:spAutoFit/>
          </a:bodyPr>
          <a:lstStyle/>
          <a:p>
            <a:pPr algn="ctr">
              <a:lnSpc>
                <a:spcPts val="5760"/>
              </a:lnSpc>
              <a:spcBef>
                <a:spcPct val="0"/>
              </a:spcBef>
            </a:pPr>
            <a:r>
              <a:rPr lang="en-US" sz="4000" b="1" spc="-169" dirty="0">
                <a:cs typeface="Aharoni" panose="02010803020104030203" pitchFamily="2" charset="-79"/>
                <a:sym typeface="Lilita One"/>
              </a:rPr>
              <a:t>Recommendation</a:t>
            </a:r>
          </a:p>
        </p:txBody>
      </p:sp>
      <p:sp>
        <p:nvSpPr>
          <p:cNvPr id="5" name="TextBox 4">
            <a:extLst>
              <a:ext uri="{FF2B5EF4-FFF2-40B4-BE49-F238E27FC236}">
                <a16:creationId xmlns:a16="http://schemas.microsoft.com/office/drawing/2014/main" id="{45538472-B647-71BE-E295-374D883F71AA}"/>
              </a:ext>
            </a:extLst>
          </p:cNvPr>
          <p:cNvSpPr txBox="1"/>
          <p:nvPr/>
        </p:nvSpPr>
        <p:spPr>
          <a:xfrm>
            <a:off x="95249" y="921867"/>
            <a:ext cx="5026025" cy="627864"/>
          </a:xfrm>
          <a:prstGeom prst="rect">
            <a:avLst/>
          </a:prstGeom>
        </p:spPr>
        <p:txBody>
          <a:bodyPr wrap="square" lIns="0" tIns="0" rIns="0" bIns="0" rtlCol="0" anchor="t">
            <a:spAutoFit/>
          </a:bodyPr>
          <a:lstStyle/>
          <a:p>
            <a:pPr algn="ctr">
              <a:lnSpc>
                <a:spcPts val="5760"/>
              </a:lnSpc>
              <a:spcBef>
                <a:spcPct val="0"/>
              </a:spcBef>
            </a:pPr>
            <a:r>
              <a:rPr lang="en-US" sz="2400" b="1" spc="-169" dirty="0">
                <a:latin typeface="Aharoni" panose="02010803020104030203" pitchFamily="2" charset="-79"/>
                <a:cs typeface="Aharoni" panose="02010803020104030203" pitchFamily="2" charset="-79"/>
                <a:sym typeface="Lilita One"/>
              </a:rPr>
              <a:t>Re-Engaging user</a:t>
            </a:r>
          </a:p>
        </p:txBody>
      </p:sp>
      <p:sp>
        <p:nvSpPr>
          <p:cNvPr id="7" name="TextBox 6"/>
          <p:cNvSpPr txBox="1"/>
          <p:nvPr/>
        </p:nvSpPr>
        <p:spPr>
          <a:xfrm>
            <a:off x="676276" y="1736685"/>
            <a:ext cx="5267324" cy="3416320"/>
          </a:xfrm>
          <a:prstGeom prst="rect">
            <a:avLst/>
          </a:prstGeom>
          <a:noFill/>
        </p:spPr>
        <p:txBody>
          <a:bodyPr wrap="square" rtlCol="0">
            <a:spAutoFit/>
          </a:bodyPr>
          <a:lstStyle/>
          <a:p>
            <a:pPr marL="285750" indent="-285750">
              <a:buFont typeface="Arial" panose="020B0604020202020204" pitchFamily="34" charset="0"/>
              <a:buChar char="•"/>
            </a:pPr>
            <a:r>
              <a:rPr lang="en-US" b="1" dirty="0"/>
              <a:t>Giving Discounts and Gift Card :</a:t>
            </a:r>
          </a:p>
          <a:p>
            <a:pPr marL="742950" lvl="1" indent="-285750">
              <a:buFont typeface="Arial" panose="020B0604020202020204" pitchFamily="34" charset="0"/>
              <a:buChar char="•"/>
            </a:pPr>
            <a:r>
              <a:rPr lang="en-US" dirty="0"/>
              <a:t>This is one of the most popular yet effective ways to honor a valued user. </a:t>
            </a:r>
          </a:p>
          <a:p>
            <a:pPr marL="285750" indent="-285750">
              <a:buFont typeface="Arial" panose="020B0604020202020204" pitchFamily="34" charset="0"/>
              <a:buChar char="•"/>
            </a:pPr>
            <a:r>
              <a:rPr lang="en-US" b="1" dirty="0"/>
              <a:t>Collaboration with Influencer:</a:t>
            </a:r>
          </a:p>
          <a:p>
            <a:pPr marL="742950" lvl="1" indent="-285750">
              <a:buFont typeface="Arial" panose="020B0604020202020204" pitchFamily="34" charset="0"/>
              <a:buChar char="•"/>
            </a:pPr>
            <a:r>
              <a:rPr lang="en-US" dirty="0"/>
              <a:t> Look for users with high follower counts.  </a:t>
            </a:r>
          </a:p>
          <a:p>
            <a:pPr marL="742950" lvl="1" indent="-285750">
              <a:buFont typeface="Arial" panose="020B0604020202020204" pitchFamily="34" charset="0"/>
              <a:buChar char="•"/>
            </a:pPr>
            <a:r>
              <a:rPr lang="en-US" dirty="0"/>
              <a:t>Prioritize those whose content aligns with brand values and target audience. </a:t>
            </a:r>
          </a:p>
          <a:p>
            <a:pPr marL="742950" lvl="1" indent="-285750">
              <a:buFont typeface="Arial" panose="020B0604020202020204" pitchFamily="34" charset="0"/>
              <a:buChar char="•"/>
            </a:pPr>
            <a:r>
              <a:rPr lang="en-US" dirty="0"/>
              <a:t>Monitor influencer performance </a:t>
            </a:r>
          </a:p>
          <a:p>
            <a:pPr marL="285750" indent="-285750">
              <a:buFont typeface="Arial" panose="020B0604020202020204" pitchFamily="34" charset="0"/>
              <a:buChar char="•"/>
            </a:pPr>
            <a:r>
              <a:rPr lang="en-US" b="1" dirty="0"/>
              <a:t>Contests For Users : </a:t>
            </a:r>
          </a:p>
          <a:p>
            <a:pPr marL="742950" lvl="1" indent="-285750">
              <a:buFont typeface="Arial" panose="020B0604020202020204" pitchFamily="34" charset="0"/>
              <a:buChar char="•"/>
            </a:pPr>
            <a:r>
              <a:rPr lang="en-US" dirty="0"/>
              <a:t>Introduce challenges or contests with rewards for the most engaging content or for hitting specific activity milestones</a:t>
            </a:r>
            <a:endParaRPr lang="en-IN"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9365"/>
          <a:stretch/>
        </p:blipFill>
        <p:spPr>
          <a:xfrm>
            <a:off x="7586662" y="1038225"/>
            <a:ext cx="4148138" cy="4019550"/>
          </a:xfrm>
          <a:prstGeom prst="rect">
            <a:avLst/>
          </a:prstGeom>
        </p:spPr>
      </p:pic>
    </p:spTree>
    <p:extLst>
      <p:ext uri="{BB962C8B-B14F-4D97-AF65-F5344CB8AC3E}">
        <p14:creationId xmlns:p14="http://schemas.microsoft.com/office/powerpoint/2010/main" val="3876892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D0121F05-284D-288E-3881-F06AFEA06DF6}"/>
              </a:ext>
            </a:extLst>
          </p:cNvPr>
          <p:cNvSpPr txBox="1"/>
          <p:nvPr/>
        </p:nvSpPr>
        <p:spPr>
          <a:xfrm>
            <a:off x="2387600" y="228600"/>
            <a:ext cx="7112000" cy="693267"/>
          </a:xfrm>
          <a:prstGeom prst="rect">
            <a:avLst/>
          </a:prstGeom>
        </p:spPr>
        <p:txBody>
          <a:bodyPr wrap="square" lIns="0" tIns="0" rIns="0" bIns="0" rtlCol="0" anchor="t">
            <a:spAutoFit/>
          </a:bodyPr>
          <a:lstStyle/>
          <a:p>
            <a:pPr algn="ctr">
              <a:lnSpc>
                <a:spcPts val="5760"/>
              </a:lnSpc>
              <a:spcBef>
                <a:spcPct val="0"/>
              </a:spcBef>
            </a:pPr>
            <a:r>
              <a:rPr lang="en-US" sz="4000" b="1" spc="-169" dirty="0">
                <a:cs typeface="Aharoni" panose="02010803020104030203" pitchFamily="2" charset="-79"/>
                <a:sym typeface="Lilita One"/>
              </a:rPr>
              <a:t>Recommendation</a:t>
            </a:r>
          </a:p>
        </p:txBody>
      </p:sp>
      <p:sp>
        <p:nvSpPr>
          <p:cNvPr id="5" name="TextBox 4">
            <a:extLst>
              <a:ext uri="{FF2B5EF4-FFF2-40B4-BE49-F238E27FC236}">
                <a16:creationId xmlns:a16="http://schemas.microsoft.com/office/drawing/2014/main" id="{45538472-B647-71BE-E295-374D883F71AA}"/>
              </a:ext>
            </a:extLst>
          </p:cNvPr>
          <p:cNvSpPr txBox="1"/>
          <p:nvPr/>
        </p:nvSpPr>
        <p:spPr>
          <a:xfrm>
            <a:off x="95249" y="921867"/>
            <a:ext cx="5026025" cy="627864"/>
          </a:xfrm>
          <a:prstGeom prst="rect">
            <a:avLst/>
          </a:prstGeom>
        </p:spPr>
        <p:txBody>
          <a:bodyPr wrap="square" lIns="0" tIns="0" rIns="0" bIns="0" rtlCol="0" anchor="t">
            <a:spAutoFit/>
          </a:bodyPr>
          <a:lstStyle/>
          <a:p>
            <a:pPr algn="ctr">
              <a:lnSpc>
                <a:spcPts val="5760"/>
              </a:lnSpc>
              <a:spcBef>
                <a:spcPct val="0"/>
              </a:spcBef>
            </a:pPr>
            <a:r>
              <a:rPr lang="en-US" sz="2400" b="1" spc="-169" dirty="0">
                <a:latin typeface="Aharoni" panose="02010803020104030203" pitchFamily="2" charset="-79"/>
                <a:cs typeface="Aharoni" panose="02010803020104030203" pitchFamily="2" charset="-79"/>
                <a:sym typeface="Lilita One"/>
              </a:rPr>
              <a:t>Strategic User Retention</a:t>
            </a:r>
          </a:p>
        </p:txBody>
      </p:sp>
      <p:sp>
        <p:nvSpPr>
          <p:cNvPr id="7" name="TextBox 6"/>
          <p:cNvSpPr txBox="1"/>
          <p:nvPr/>
        </p:nvSpPr>
        <p:spPr>
          <a:xfrm>
            <a:off x="1038226" y="1741587"/>
            <a:ext cx="7143750" cy="4124206"/>
          </a:xfrm>
          <a:prstGeom prst="rect">
            <a:avLst/>
          </a:prstGeom>
          <a:noFill/>
        </p:spPr>
        <p:txBody>
          <a:bodyPr wrap="square" rtlCol="0">
            <a:spAutoFit/>
          </a:bodyPr>
          <a:lstStyle/>
          <a:p>
            <a:r>
              <a:rPr lang="en-US" b="1" dirty="0"/>
              <a:t>1. Re-Activation Campaigns</a:t>
            </a:r>
          </a:p>
          <a:p>
            <a:pPr marL="742950" lvl="1" indent="-285750">
              <a:buFont typeface="Arial" panose="020B0604020202020204" pitchFamily="34" charset="0"/>
              <a:buChar char="•"/>
            </a:pPr>
            <a:r>
              <a:rPr lang="en-US" sz="1600" b="1" dirty="0"/>
              <a:t>Data-Driven Targeting:</a:t>
            </a:r>
            <a:r>
              <a:rPr lang="en-US" sz="1600" dirty="0"/>
              <a:t> Identify inactive users and deploy personalized offers.</a:t>
            </a:r>
          </a:p>
          <a:p>
            <a:pPr marL="742950" lvl="1" indent="-285750">
              <a:buFont typeface="Arial" panose="020B0604020202020204" pitchFamily="34" charset="0"/>
              <a:buChar char="•"/>
            </a:pPr>
            <a:r>
              <a:rPr lang="en-US" sz="1600" b="1" dirty="0"/>
              <a:t>Visual Re-Engagement:</a:t>
            </a:r>
            <a:r>
              <a:rPr lang="en-US" sz="1600" dirty="0"/>
              <a:t> Use </a:t>
            </a:r>
            <a:r>
              <a:rPr lang="en-US" sz="1600" b="1" dirty="0"/>
              <a:t>Reels and Stories</a:t>
            </a:r>
            <a:r>
              <a:rPr lang="en-US" sz="1600" dirty="0"/>
              <a:t> to capture attention in the feed.</a:t>
            </a:r>
          </a:p>
          <a:p>
            <a:pPr lvl="1"/>
            <a:endParaRPr lang="en-US" sz="1600" dirty="0"/>
          </a:p>
          <a:p>
            <a:r>
              <a:rPr lang="en-US" b="1" dirty="0"/>
              <a:t>2. Frictionless Content Creation</a:t>
            </a:r>
          </a:p>
          <a:p>
            <a:pPr marL="742950" lvl="1" indent="-285750">
              <a:buFont typeface="Arial" panose="020B0604020202020204" pitchFamily="34" charset="0"/>
              <a:buChar char="•"/>
            </a:pPr>
            <a:r>
              <a:rPr lang="en-US" sz="1600" b="1" dirty="0"/>
              <a:t>Smart Templates:</a:t>
            </a:r>
            <a:r>
              <a:rPr lang="en-US" sz="1600" dirty="0"/>
              <a:t> Provide ready-to-use prompts for user-generated content.</a:t>
            </a:r>
          </a:p>
          <a:p>
            <a:pPr marL="742950" lvl="1" indent="-285750">
              <a:buFont typeface="Arial" panose="020B0604020202020204" pitchFamily="34" charset="0"/>
              <a:buChar char="•"/>
            </a:pPr>
            <a:r>
              <a:rPr lang="en-US" sz="1600" b="1" dirty="0"/>
              <a:t>Simplified Sharing:</a:t>
            </a:r>
            <a:r>
              <a:rPr lang="en-US" sz="1600" dirty="0"/>
              <a:t> Reduce "creative friction" to encourage more frequent posting and interaction.</a:t>
            </a:r>
          </a:p>
          <a:p>
            <a:pPr lvl="1"/>
            <a:endParaRPr lang="en-US" sz="1600" dirty="0"/>
          </a:p>
          <a:p>
            <a:r>
              <a:rPr lang="en-US" b="1" dirty="0"/>
              <a:t>3. Loyalty &amp; Community Programs</a:t>
            </a:r>
          </a:p>
          <a:p>
            <a:pPr marL="742950" lvl="1" indent="-285750">
              <a:buFont typeface="Arial" panose="020B0604020202020204" pitchFamily="34" charset="0"/>
              <a:buChar char="•"/>
            </a:pPr>
            <a:r>
              <a:rPr lang="en-US" sz="1600" b="1" dirty="0"/>
              <a:t>Gamified Rewards:</a:t>
            </a:r>
            <a:r>
              <a:rPr lang="en-US" sz="1600" dirty="0"/>
              <a:t> Integrate Instagram Badges.</a:t>
            </a:r>
          </a:p>
          <a:p>
            <a:pPr marL="742950" lvl="1" indent="-285750">
              <a:buFont typeface="Arial" panose="020B0604020202020204" pitchFamily="34" charset="0"/>
              <a:buChar char="•"/>
            </a:pPr>
            <a:r>
              <a:rPr lang="en-US" sz="1600" b="1" dirty="0"/>
              <a:t>Influencer Advocacy:</a:t>
            </a:r>
            <a:r>
              <a:rPr lang="en-US" sz="1600" dirty="0"/>
              <a:t> Partner with creators to promote loyalty perks and community meetups.</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r="48925" b="13333"/>
          <a:stretch/>
        </p:blipFill>
        <p:spPr>
          <a:xfrm>
            <a:off x="8831106" y="575233"/>
            <a:ext cx="2960845" cy="3241345"/>
          </a:xfrm>
          <a:prstGeom prst="rect">
            <a:avLst/>
          </a:prstGeom>
        </p:spPr>
      </p:pic>
    </p:spTree>
    <p:extLst>
      <p:ext uri="{BB962C8B-B14F-4D97-AF65-F5344CB8AC3E}">
        <p14:creationId xmlns:p14="http://schemas.microsoft.com/office/powerpoint/2010/main" val="13816849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D0121F05-284D-288E-3881-F06AFEA06DF6}"/>
              </a:ext>
            </a:extLst>
          </p:cNvPr>
          <p:cNvSpPr txBox="1"/>
          <p:nvPr/>
        </p:nvSpPr>
        <p:spPr>
          <a:xfrm>
            <a:off x="2387600" y="228600"/>
            <a:ext cx="7112000" cy="693267"/>
          </a:xfrm>
          <a:prstGeom prst="rect">
            <a:avLst/>
          </a:prstGeom>
        </p:spPr>
        <p:txBody>
          <a:bodyPr wrap="square" lIns="0" tIns="0" rIns="0" bIns="0" rtlCol="0" anchor="t">
            <a:spAutoFit/>
          </a:bodyPr>
          <a:lstStyle/>
          <a:p>
            <a:pPr algn="ctr">
              <a:lnSpc>
                <a:spcPts val="5760"/>
              </a:lnSpc>
              <a:spcBef>
                <a:spcPct val="0"/>
              </a:spcBef>
            </a:pPr>
            <a:r>
              <a:rPr lang="en-US" sz="4000" b="1" spc="-169" dirty="0">
                <a:cs typeface="Aharoni" panose="02010803020104030203" pitchFamily="2" charset="-79"/>
                <a:sym typeface="Lilita One"/>
              </a:rPr>
              <a:t>Recommendation</a:t>
            </a:r>
          </a:p>
        </p:txBody>
      </p:sp>
      <p:sp>
        <p:nvSpPr>
          <p:cNvPr id="5" name="TextBox 4">
            <a:extLst>
              <a:ext uri="{FF2B5EF4-FFF2-40B4-BE49-F238E27FC236}">
                <a16:creationId xmlns:a16="http://schemas.microsoft.com/office/drawing/2014/main" id="{45538472-B647-71BE-E295-374D883F71AA}"/>
              </a:ext>
            </a:extLst>
          </p:cNvPr>
          <p:cNvSpPr txBox="1"/>
          <p:nvPr/>
        </p:nvSpPr>
        <p:spPr>
          <a:xfrm>
            <a:off x="95249" y="921867"/>
            <a:ext cx="5026025" cy="627864"/>
          </a:xfrm>
          <a:prstGeom prst="rect">
            <a:avLst/>
          </a:prstGeom>
        </p:spPr>
        <p:txBody>
          <a:bodyPr wrap="square" lIns="0" tIns="0" rIns="0" bIns="0" rtlCol="0" anchor="t">
            <a:spAutoFit/>
          </a:bodyPr>
          <a:lstStyle/>
          <a:p>
            <a:pPr algn="ctr">
              <a:lnSpc>
                <a:spcPts val="5760"/>
              </a:lnSpc>
              <a:spcBef>
                <a:spcPct val="0"/>
              </a:spcBef>
            </a:pPr>
            <a:r>
              <a:rPr lang="en-US" sz="2400" b="1" spc="-169" dirty="0">
                <a:latin typeface="Aharoni" panose="02010803020104030203" pitchFamily="2" charset="-79"/>
                <a:cs typeface="Aharoni" panose="02010803020104030203" pitchFamily="2" charset="-79"/>
                <a:sym typeface="Lilita One"/>
              </a:rPr>
              <a:t>Strategic User Retention</a:t>
            </a:r>
          </a:p>
        </p:txBody>
      </p:sp>
      <p:sp>
        <p:nvSpPr>
          <p:cNvPr id="7" name="TextBox 6"/>
          <p:cNvSpPr txBox="1"/>
          <p:nvPr/>
        </p:nvSpPr>
        <p:spPr>
          <a:xfrm>
            <a:off x="1038225" y="1741587"/>
            <a:ext cx="7324725" cy="3170099"/>
          </a:xfrm>
          <a:prstGeom prst="rect">
            <a:avLst/>
          </a:prstGeom>
          <a:noFill/>
        </p:spPr>
        <p:txBody>
          <a:bodyPr wrap="square" rtlCol="0">
            <a:spAutoFit/>
          </a:bodyPr>
          <a:lstStyle/>
          <a:p>
            <a:r>
              <a:rPr lang="en-US" b="1" dirty="0"/>
              <a:t>4. Proactive Community Support </a:t>
            </a:r>
          </a:p>
          <a:p>
            <a:pPr marL="742950" lvl="1" indent="-285750">
              <a:buFont typeface="Arial" panose="020B0604020202020204" pitchFamily="34" charset="0"/>
              <a:buChar char="•"/>
            </a:pPr>
            <a:r>
              <a:rPr lang="en-US" sz="1600" b="1" dirty="0"/>
              <a:t>Rapid Response</a:t>
            </a:r>
            <a:r>
              <a:rPr lang="en-US" sz="1600" dirty="0"/>
              <a:t>: Utilize automated DM assistants and FAQs to solve user issues instantly.</a:t>
            </a:r>
          </a:p>
          <a:p>
            <a:pPr marL="742950" lvl="1" indent="-285750">
              <a:buFont typeface="Arial" panose="020B0604020202020204" pitchFamily="34" charset="0"/>
              <a:buChar char="•"/>
            </a:pPr>
            <a:r>
              <a:rPr lang="en-US" sz="1600" b="1" dirty="0"/>
              <a:t>Safety &amp; Moderation</a:t>
            </a:r>
            <a:r>
              <a:rPr lang="en-US" sz="1600" dirty="0"/>
              <a:t>: Maintain a positive environment to ensure users feel secure and valued.</a:t>
            </a:r>
          </a:p>
          <a:p>
            <a:pPr marL="742950" lvl="1" indent="-285750">
              <a:buFont typeface="Arial" panose="020B0604020202020204" pitchFamily="34" charset="0"/>
              <a:buChar char="•"/>
            </a:pPr>
            <a:endParaRPr lang="en-US" dirty="0"/>
          </a:p>
          <a:p>
            <a:r>
              <a:rPr lang="en-US" b="1" dirty="0"/>
              <a:t>5. Feedback Loops &amp; Co-Creation </a:t>
            </a:r>
          </a:p>
          <a:p>
            <a:pPr marL="742950" lvl="1" indent="-285750">
              <a:buFont typeface="Arial" panose="020B0604020202020204" pitchFamily="34" charset="0"/>
              <a:buChar char="•"/>
            </a:pPr>
            <a:r>
              <a:rPr lang="en-US" sz="1600" b="1" dirty="0"/>
              <a:t>User Surveys</a:t>
            </a:r>
            <a:r>
              <a:rPr lang="en-US" sz="1600" dirty="0"/>
              <a:t>: Use Story "Polls" and "Questions" to involve users in product decisions.</a:t>
            </a:r>
          </a:p>
          <a:p>
            <a:pPr marL="742950" lvl="1" indent="-285750">
              <a:buFont typeface="Arial" panose="020B0604020202020204" pitchFamily="34" charset="0"/>
              <a:buChar char="•"/>
            </a:pPr>
            <a:r>
              <a:rPr lang="en-US" sz="1600" b="1" dirty="0"/>
              <a:t>Beta Access</a:t>
            </a:r>
            <a:r>
              <a:rPr lang="en-US" sz="1600" dirty="0"/>
              <a:t>: Grant top-tier users early access to new features in exchange for feedback.</a:t>
            </a:r>
          </a:p>
          <a:p>
            <a:pPr lvl="1"/>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51404" t="-1528" r="4233" b="14861"/>
          <a:stretch/>
        </p:blipFill>
        <p:spPr>
          <a:xfrm>
            <a:off x="9331326" y="874242"/>
            <a:ext cx="2571750" cy="3241345"/>
          </a:xfrm>
          <a:prstGeom prst="rect">
            <a:avLst/>
          </a:prstGeom>
        </p:spPr>
      </p:pic>
    </p:spTree>
    <p:extLst>
      <p:ext uri="{BB962C8B-B14F-4D97-AF65-F5344CB8AC3E}">
        <p14:creationId xmlns:p14="http://schemas.microsoft.com/office/powerpoint/2010/main" val="31051246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D0121F05-284D-288E-3881-F06AFEA06DF6}"/>
              </a:ext>
            </a:extLst>
          </p:cNvPr>
          <p:cNvSpPr txBox="1"/>
          <p:nvPr/>
        </p:nvSpPr>
        <p:spPr>
          <a:xfrm>
            <a:off x="2387600" y="228600"/>
            <a:ext cx="7112000" cy="689291"/>
          </a:xfrm>
          <a:prstGeom prst="rect">
            <a:avLst/>
          </a:prstGeom>
        </p:spPr>
        <p:txBody>
          <a:bodyPr wrap="square" lIns="0" tIns="0" rIns="0" bIns="0" rtlCol="0" anchor="t">
            <a:spAutoFit/>
          </a:bodyPr>
          <a:lstStyle/>
          <a:p>
            <a:pPr algn="ctr">
              <a:lnSpc>
                <a:spcPts val="5760"/>
              </a:lnSpc>
              <a:spcBef>
                <a:spcPct val="0"/>
              </a:spcBef>
            </a:pPr>
            <a:r>
              <a:rPr lang="en-US" altLang="en-US" sz="4000" b="1" dirty="0">
                <a:latin typeface="Arial" panose="020B0604020202020204" pitchFamily="34" charset="0"/>
              </a:rPr>
              <a:t>Conclusion</a:t>
            </a:r>
            <a:endParaRPr lang="en-US" sz="4000" b="1" spc="-169" dirty="0">
              <a:cs typeface="Aharoni" panose="02010803020104030203" pitchFamily="2" charset="-79"/>
              <a:sym typeface="Lilita One"/>
            </a:endParaRPr>
          </a:p>
        </p:txBody>
      </p:sp>
      <p:sp>
        <p:nvSpPr>
          <p:cNvPr id="5" name="TextBox 4">
            <a:extLst>
              <a:ext uri="{FF2B5EF4-FFF2-40B4-BE49-F238E27FC236}">
                <a16:creationId xmlns:a16="http://schemas.microsoft.com/office/drawing/2014/main" id="{45538472-B647-71BE-E295-374D883F71AA}"/>
              </a:ext>
            </a:extLst>
          </p:cNvPr>
          <p:cNvSpPr txBox="1"/>
          <p:nvPr/>
        </p:nvSpPr>
        <p:spPr>
          <a:xfrm>
            <a:off x="466724" y="1045692"/>
            <a:ext cx="5026025" cy="1200329"/>
          </a:xfrm>
          <a:prstGeom prst="rect">
            <a:avLst/>
          </a:prstGeom>
        </p:spPr>
        <p:txBody>
          <a:bodyPr wrap="square" lIns="0" tIns="0" rIns="0" bIns="0" rtlCol="0" anchor="t">
            <a:spAutoFit/>
          </a:bodyPr>
          <a:lstStyle/>
          <a:p>
            <a:pPr lvl="0" defTabSz="914400" eaLnBrk="0" fontAlgn="base" hangingPunct="0">
              <a:spcBef>
                <a:spcPct val="0"/>
              </a:spcBef>
              <a:spcAft>
                <a:spcPct val="0"/>
              </a:spcAft>
            </a:pPr>
            <a:r>
              <a:rPr lang="en-US" altLang="en-US" sz="2400" b="1" dirty="0">
                <a:latin typeface="Arial" panose="020B0604020202020204" pitchFamily="34" charset="0"/>
              </a:rPr>
              <a:t>Transforming Insights into Impact</a:t>
            </a:r>
          </a:p>
          <a:p>
            <a:pPr lvl="0" defTabSz="914400" eaLnBrk="0" fontAlgn="base" hangingPunct="0">
              <a:spcBef>
                <a:spcPct val="0"/>
              </a:spcBef>
              <a:spcAft>
                <a:spcPct val="0"/>
              </a:spcAft>
            </a:pPr>
            <a:endParaRPr lang="en-US" altLang="en-US" sz="5400" dirty="0">
              <a:latin typeface="Arial" panose="020B0604020202020204" pitchFamily="34" charset="0"/>
            </a:endParaRPr>
          </a:p>
        </p:txBody>
      </p:sp>
      <p:sp>
        <p:nvSpPr>
          <p:cNvPr id="8" name="Rectangle 3"/>
          <p:cNvSpPr>
            <a:spLocks noChangeArrowheads="1"/>
          </p:cNvSpPr>
          <p:nvPr/>
        </p:nvSpPr>
        <p:spPr bwMode="auto">
          <a:xfrm>
            <a:off x="533399" y="1485736"/>
            <a:ext cx="6905626"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Summary of Insights:</a:t>
            </a:r>
            <a:r>
              <a:rPr kumimoji="0" lang="en-US" altLang="en-US" sz="1800" b="0" i="0" u="none" strike="noStrike" cap="none" normalizeH="0" baseline="0" dirty="0">
                <a:ln>
                  <a:noFill/>
                </a:ln>
                <a:solidFill>
                  <a:schemeClr val="tx1"/>
                </a:solidFill>
                <a:effectLst/>
                <a:latin typeface="Arial" panose="020B0604020202020204" pitchFamily="34" charset="0"/>
              </a:rPr>
              <a:t> Leverage mapped engagement patterns and user segmentation to launch high-precision, actionable campaigns.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Strategic Next Steps:</a:t>
            </a:r>
            <a:r>
              <a:rPr kumimoji="0" lang="en-US" altLang="en-US" sz="1800" b="0" i="0" u="none" strike="noStrike" cap="none" normalizeH="0" baseline="0" dirty="0">
                <a:ln>
                  <a:noFill/>
                </a:ln>
                <a:solidFill>
                  <a:schemeClr val="tx1"/>
                </a:solidFill>
                <a:effectLst/>
                <a:latin typeface="Arial" panose="020B0604020202020204" pitchFamily="34" charset="0"/>
              </a:rPr>
              <a:t> Establish clear instructional pathways and cross-functional collaborations to move from theory to practice.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Data-Driven Methodology:</a:t>
            </a:r>
            <a:r>
              <a:rPr kumimoji="0" lang="en-US" altLang="en-US" sz="1800" b="0" i="0" u="none" strike="noStrike" cap="none" normalizeH="0" baseline="0" dirty="0">
                <a:ln>
                  <a:noFill/>
                </a:ln>
                <a:solidFill>
                  <a:schemeClr val="tx1"/>
                </a:solidFill>
                <a:effectLst/>
                <a:latin typeface="Arial" panose="020B0604020202020204" pitchFamily="34" charset="0"/>
              </a:rPr>
              <a:t> Prioritize analytical decision-making to ensure our tactics remain responsive to shifting user behaviors and needs.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Continuous Optimization (New):</a:t>
            </a:r>
            <a:r>
              <a:rPr kumimoji="0" lang="en-US" altLang="en-US" sz="1800" b="0" i="0" u="none" strike="noStrike" cap="none" normalizeH="0" baseline="0" dirty="0">
                <a:ln>
                  <a:noFill/>
                </a:ln>
                <a:solidFill>
                  <a:schemeClr val="tx1"/>
                </a:solidFill>
                <a:effectLst/>
                <a:latin typeface="Arial" panose="020B0604020202020204" pitchFamily="34" charset="0"/>
              </a:rPr>
              <a:t> Implement iterative testing and feedback loops to refine content performance and maximize long-term ROI.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b="11373"/>
          <a:stretch/>
        </p:blipFill>
        <p:spPr>
          <a:xfrm>
            <a:off x="7800284" y="1045692"/>
            <a:ext cx="4176730" cy="3993033"/>
          </a:xfrm>
          <a:prstGeom prst="rect">
            <a:avLst/>
          </a:prstGeom>
        </p:spPr>
      </p:pic>
    </p:spTree>
    <p:extLst>
      <p:ext uri="{BB962C8B-B14F-4D97-AF65-F5344CB8AC3E}">
        <p14:creationId xmlns:p14="http://schemas.microsoft.com/office/powerpoint/2010/main" val="20017100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33938897"/>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180</TotalTime>
  <Words>1088</Words>
  <Application>Microsoft Office PowerPoint</Application>
  <PresentationFormat>Widescreen</PresentationFormat>
  <Paragraphs>125</Paragraphs>
  <Slides>16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Aharoni</vt:lpstr>
      <vt:lpstr>Arial</vt:lpstr>
      <vt:lpstr>Calibri</vt:lpstr>
      <vt:lpstr>Calibri Light</vt:lpstr>
      <vt:lpstr>DM Serif Text</vt:lpstr>
      <vt:lpstr>Times New Roman</vt:lpstr>
      <vt:lpstr>Retrospect</vt:lpstr>
      <vt:lpstr>Optimizing Instagram Engagement</vt:lpstr>
      <vt:lpstr>PowerPoint Presentation</vt:lpstr>
      <vt:lpstr>PowerPoint Presentation</vt:lpstr>
      <vt:lpstr>PowerPoint Presentation</vt:lpstr>
      <vt:lpstr>PowerPoint Presentation</vt:lpstr>
      <vt:lpstr>Approach</vt:lpstr>
      <vt:lpstr>PowerPoint Presentation</vt:lpstr>
      <vt:lpstr>PowerPoint Presentation</vt:lpstr>
      <vt:lpstr>Engagement Analysis</vt:lpstr>
      <vt:lpstr>Content Performance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Optimizing Instagram Engagement</dc:title>
  <dc:creator>vikas chandrakar</dc:creator>
  <cp:lastModifiedBy>20BET1016_Vishal Raj</cp:lastModifiedBy>
  <cp:revision>15</cp:revision>
  <dcterms:created xsi:type="dcterms:W3CDTF">2026-01-08T03:08:03Z</dcterms:created>
  <dcterms:modified xsi:type="dcterms:W3CDTF">2026-08-24T10:51:56Z</dcterms:modified>
</cp:coreProperties>
</file>